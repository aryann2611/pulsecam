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355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3557"/>
                </a:solidFill>
                <a:latin typeface="+mn-lt"/>
              </a:rPr>
              <a:t>Mean absolute error per 10 s window, BPM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Window MAE (BPM)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355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DAD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TS-CAN (PURE)</c:v>
                  </c:pt>
                  <c:pt idx="1">
                    <c:v>CHROM</c:v>
                  </c:pt>
                  <c:pt idx="2">
                    <c:v>POS</c:v>
                  </c:pt>
                  <c:pt idx="3">
                    <c:v>ICA</c:v>
                  </c:pt>
                  <c:pt idx="4">
                    <c:v>TS-CAN (SCAMPS)</c:v>
                  </c:pt>
                  <c:pt idx="5">
                    <c:v>GREEN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2</c:v>
                </c:pt>
                <c:pt idx="2">
                  <c:v>4.5</c:v>
                </c:pt>
                <c:pt idx="3">
                  <c:v>6.73</c:v>
                </c:pt>
                <c:pt idx="4">
                  <c:v>12.83</c:v>
                </c:pt>
                <c:pt idx="5">
                  <c:v>19.38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D355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35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say clearly that this is a research prototype, not a medical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sensors versus a webcam. The fairness gap motivates the skin-tone experiment E4.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simply: heartbeat, tiny colour change, filter and FFT peak gives the heart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TS-CAN outputs the derivative of the pulse, so we integrate it before the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was person-wise so nobody appears in both train and test. We report that it gave no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E3 to E5 need people and hardware and were not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 UBFC subjects, 490 windows per method. SCAMPS weights transfer poorly; we checked five ways and it is not a scoring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running app on localhost. Live webcam run with a person is still untested.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Results tab. Stress that the margin over CHROM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limitations and ethics, then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PulseCam  |  research prototype, not a medical device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lse disc large"/>
          <p:cNvSpPr/>
          <p:nvPr/>
        </p:nvSpPr>
        <p:spPr>
          <a:xfrm>
            <a:off x="6035040" y="548640"/>
            <a:ext cx="3108960" cy="3108960"/>
          </a:xfrm>
          <a:prstGeom prst="ellipse">
            <a:avLst/>
          </a:prstGeom>
          <a:solidFill>
            <a:srgbClr val="A8DADC">
              <a:alpha val="45000"/>
            </a:srgbClr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" name="Pulse disc small"/>
          <p:cNvSpPr/>
          <p:nvPr/>
        </p:nvSpPr>
        <p:spPr>
          <a:xfrm>
            <a:off x="6858000" y="1371600"/>
            <a:ext cx="1463040" cy="1463040"/>
          </a:xfrm>
          <a:prstGeom prst="ellipse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PulseCam</a:t>
            </a:r>
            <a:endParaRPr lang="en-US" sz="4800" dirty="0"/>
          </a:p>
        </p:txBody>
      </p:sp>
      <p:sp>
        <p:nvSpPr>
          <p:cNvPr id="5" name="Logo card"/>
          <p:cNvSpPr/>
          <p:nvPr/>
        </p:nvSpPr>
        <p:spPr>
          <a:xfrm>
            <a:off x="640080" y="274320"/>
            <a:ext cx="914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E1E8"/>
            </a:solidFill>
            <a:prstDash val="solid"/>
          </a:ln>
        </p:spPr>
      </p:sp>
      <p:pic>
        <p:nvPicPr>
          <p:cNvPr id="6" name="SRMU logo" descr="Shri Ramswaroop Memoria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65760"/>
            <a:ext cx="694944" cy="8869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411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 Ramswaroop Memorial University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and pulse waveform from a webcam face video, live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Aryan Singh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202310101150038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Ruchi Singh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202310101150025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Dwivedi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202310101150039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069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 (DS + AI)  |  Group 71, 72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389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prototype. Not a medical device, never diagnostic.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measure heart rate from a face?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4" name="Marker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clips, smartwatches and chest straps all need contact and a device on the body.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8" name="Marker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normal webcam, 30 seconds, nothing worn. Heart rate and a pulse waveform on screen.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12" name="Marker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rPPG data has few darker skin tones, so we test fairness across Monk skin-tone bands (E4).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rPPG works</a:t>
            </a:r>
            <a:endParaRPr lang="en-US" sz="3200" dirty="0"/>
          </a:p>
        </p:txBody>
      </p:sp>
      <p:sp>
        <p:nvSpPr>
          <p:cNvPr id="3" name="Number badge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Heartbeat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184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beat pushes blood into the face skin.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457200" y="2350008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change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426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colour shifts by a tiny amount, mostly in green. Eyes cannot see it, a camera can.</a:t>
            </a:r>
            <a:endParaRPr lang="en-US" sz="1400" dirty="0"/>
          </a:p>
        </p:txBody>
      </p:sp>
      <p:sp>
        <p:nvSpPr>
          <p:cNvPr id="11" name="Number badge"/>
          <p:cNvSpPr/>
          <p:nvPr/>
        </p:nvSpPr>
        <p:spPr>
          <a:xfrm>
            <a:off x="457200" y="3374136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826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667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0.7 to 3.0 Hz, then take the strongest frequency with an FFT.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577840" y="1234440"/>
            <a:ext cx="3108960" cy="3063240"/>
          </a:xfrm>
          <a:prstGeom prst="roundRect">
            <a:avLst>
              <a:gd name="adj" fmla="val 3582"/>
            </a:avLst>
          </a:prstGeom>
          <a:solidFill>
            <a:srgbClr val="F1FAEE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= 60 x f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the peak frequency in Hz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Hz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108 beats per minute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3" name="Pipeline box"/>
          <p:cNvSpPr/>
          <p:nvPr/>
        </p:nvSpPr>
        <p:spPr>
          <a:xfrm>
            <a:off x="457200" y="13716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>
            <a:solidFill>
              <a:srgbClr val="E1EA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 webcam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1883664" y="1920240"/>
            <a:ext cx="237744" cy="274320"/>
          </a:xfrm>
          <a:prstGeom prst="right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Pipeline box"/>
          <p:cNvSpPr/>
          <p:nvPr/>
        </p:nvSpPr>
        <p:spPr>
          <a:xfrm>
            <a:off x="2171700" y="13716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>
            <a:solidFill>
              <a:srgbClr val="E1EA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31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+ skin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263140" y="1920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box, crop 72x72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598164" y="1920240"/>
            <a:ext cx="237744" cy="274320"/>
          </a:xfrm>
          <a:prstGeom prst="right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Pipeline box"/>
          <p:cNvSpPr/>
          <p:nvPr/>
        </p:nvSpPr>
        <p:spPr>
          <a:xfrm>
            <a:off x="3886200" y="13716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A8DADC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920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or TS-CAN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5312664" y="1920240"/>
            <a:ext cx="237744" cy="274320"/>
          </a:xfrm>
          <a:prstGeom prst="right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Pipeline box"/>
          <p:cNvSpPr/>
          <p:nvPr/>
        </p:nvSpPr>
        <p:spPr>
          <a:xfrm>
            <a:off x="5600700" y="13716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>
            <a:solidFill>
              <a:srgbClr val="E1EA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921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Bandpass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92140" y="1920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to 3.0 Hz</a:t>
            </a:r>
            <a:endParaRPr lang="en-US" sz="1300" dirty="0"/>
          </a:p>
        </p:txBody>
      </p:sp>
      <p:sp>
        <p:nvSpPr>
          <p:cNvPr id="18" name="Arrow"/>
          <p:cNvSpPr/>
          <p:nvPr/>
        </p:nvSpPr>
        <p:spPr>
          <a:xfrm>
            <a:off x="7027164" y="1920240"/>
            <a:ext cx="237744" cy="274320"/>
          </a:xfrm>
          <a:prstGeom prst="right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Pipeline box"/>
          <p:cNvSpPr/>
          <p:nvPr/>
        </p:nvSpPr>
        <p:spPr>
          <a:xfrm>
            <a:off x="7315200" y="13716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12700">
            <a:solidFill>
              <a:srgbClr val="E1EA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peak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1920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= 60 x f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457200" y="310896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F1FAEE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66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rolling buffer (300 frames), a new estimate every second, the median of the last 5 is shown. A 'Hold still' warning appears on motion, darkness or a weak signal.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model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4" name="Chip"/>
          <p:cNvSpPr/>
          <p:nvPr/>
        </p:nvSpPr>
        <p:spPr>
          <a:xfrm>
            <a:off x="685800" y="1508760"/>
            <a:ext cx="1371600" cy="109728"/>
          </a:xfrm>
          <a:prstGeom prst="roundRect">
            <a:avLst>
              <a:gd name="adj" fmla="val 50000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ICA, CHROM, POS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Hand-made colour maths. No training needed. CHROM and POS are the strong ones.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9" name="Chip"/>
          <p:cNvSpPr/>
          <p:nvPr/>
        </p:nvSpPr>
        <p:spPr>
          <a:xfrm>
            <a:off x="3520440" y="1508760"/>
            <a:ext cx="1371600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TS-CAN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06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Temporal-shift attention CNN from rPPG-Toolbox. We use its released PURE and SCAMPS weights.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14" name="Chip"/>
          <p:cNvSpPr/>
          <p:nvPr/>
        </p:nvSpPr>
        <p:spPr>
          <a:xfrm>
            <a:off x="6355080" y="1508760"/>
            <a:ext cx="1371600" cy="109728"/>
          </a:xfrm>
          <a:prstGeom prst="roundRect">
            <a:avLst>
              <a:gd name="adj" fmla="val 50000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on UBFC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6060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Person-wise split, 30 train, 6 valid, 6 test. Result: 1.60 vs 1.58 BPM, no real gain, so the released model stays.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experiments</a:t>
            </a:r>
            <a:endParaRPr lang="en-US" sz="3200" dirty="0"/>
          </a:p>
        </p:txBody>
      </p:sp>
      <p:graphicFrame>
        <p:nvGraphicFramePr>
          <p:cNvPr id="7" name="Experi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baselines vs deep model on UBFC-rPPG (42 people)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and SCAMPS weights tested on UBFC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UBFC person-wise split, released weights kept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Done, no 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E3, E4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 per condition, skin-tone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volunteers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vs a reference device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hardware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490 ten-second windows per method against the heart rate of the ground-truth pulse.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and E2: error by method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603504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1FAEE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1.80 vs 2.00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TS-CAN (PURE) vs CHROM, BPM per window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6035040" y="27889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Tied per video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0.72 BPM for both. The deep model only narrowly beats the best classical method.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demo app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3520440" y="1234440"/>
            <a:ext cx="5303520" cy="2473523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12700">
            <a:solidFill>
              <a:srgbClr val="D5E1E8"/>
            </a:solidFill>
            <a:prstDash val="solid"/>
          </a:ln>
          <a:effectLst>
            <a:outerShdw sx="100000" sy="100000" kx="0" ky="0" algn="bl" rotWithShape="0" blurRad="101600" dist="25400" dir="5400000">
              <a:srgbClr val="1D3557">
                <a:alpha val="15000"/>
              </a:srgbClr>
            </a:outerShdw>
          </a:effectLst>
        </p:spPr>
      </p:sp>
      <p:pic>
        <p:nvPicPr>
          <p:cNvPr id="4" name="Screenshot Go live" descr="PulseCam Go live tab: Ready when you are, Start measurement button, heart rate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280160"/>
            <a:ext cx="5212080" cy="2382083"/>
          </a:xfrm>
          <a:prstGeom prst="rect">
            <a:avLst/>
          </a:prstGeom>
        </p:spPr>
      </p:pic>
      <p:sp>
        <p:nvSpPr>
          <p:cNvPr id="5" name="Number badge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webcam measurement</a:t>
            </a:r>
            <a:endParaRPr lang="en-US" sz="1200" dirty="0"/>
          </a:p>
        </p:txBody>
      </p:sp>
      <p:sp>
        <p:nvSpPr>
          <p:cNvPr id="9" name="Number badge"/>
          <p:cNvSpPr/>
          <p:nvPr/>
        </p:nvSpPr>
        <p:spPr>
          <a:xfrm>
            <a:off x="457200" y="2057400"/>
            <a:ext cx="411480" cy="4114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video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recorded clip</a:t>
            </a:r>
            <a:endParaRPr lang="en-US" sz="1200" dirty="0"/>
          </a:p>
        </p:txBody>
      </p:sp>
      <p:sp>
        <p:nvSpPr>
          <p:cNvPr id="13" name="Number badge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and E2 tables, Bland-Altman plots</a:t>
            </a:r>
            <a:endParaRPr lang="en-US" sz="1200" dirty="0"/>
          </a:p>
        </p:txBody>
      </p:sp>
      <p:sp>
        <p:nvSpPr>
          <p:cNvPr id="17" name="Number badge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886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checklist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890843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Starlette and a browser page. Works offline, no cloud, nothing leaves the laptop.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tab in the app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11480" y="1234440"/>
            <a:ext cx="5486400" cy="2360414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D5E1E8"/>
            </a:solidFill>
            <a:prstDash val="solid"/>
          </a:ln>
          <a:effectLst>
            <a:outerShdw sx="100000" sy="100000" kx="0" ky="0" algn="bl" rotWithShape="0" blurRad="101600" dist="25400" dir="5400000">
              <a:srgbClr val="1D3557">
                <a:alpha val="15000"/>
              </a:srgbClr>
            </a:outerShdw>
          </a:effectLst>
        </p:spPr>
      </p:sp>
      <p:pic>
        <p:nvPicPr>
          <p:cNvPr id="4" name="Screenshot Results" descr="PulseCam Results tab: TS-CAN (PURE) 1.80 bpm, CHROM 2.00 bpm, 42 videos, 490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394960" cy="22689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7773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error bars per method and a Bland-Altman plot for every model, read straight from the results tables.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 honestly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6916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TS-CAN edges out CHROM, but by a small margin.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video the two are exactly tied.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UBFC fine-tuning gave no gain.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 here says anything medical.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done yet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volunteer recordings or consent forms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device, so no E3, E4 or E5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test with a person pending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70916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volunteers with signed consent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a finger-clip or watch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own recordings, person-wise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1FAEE"/>
          </a:solidFill>
          <a:ln w="9525">
            <a:solidFill>
              <a:srgbClr val="E1EA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94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prototype, never a medical device. Faces and consent forms are never committed; people are P01, P02 and so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Cam Light">
  <a:themeElements>
    <a:clrScheme name="PulseCam Light">
      <a:dk1>
        <a:srgbClr val="1D3557"/>
      </a:dk1>
      <a:lt1>
        <a:srgbClr val="FFFFFF"/>
      </a:lt1>
      <a:dk2>
        <a:srgbClr val="457B9D"/>
      </a:dk2>
      <a:lt2>
        <a:srgbClr val="F1FAEE"/>
      </a:lt2>
      <a:accent1>
        <a:srgbClr val="E63946"/>
      </a:accent1>
      <a:accent2>
        <a:srgbClr val="A8DADC"/>
      </a:accent2>
      <a:accent3>
        <a:srgbClr val="457B9D"/>
      </a:accent3>
      <a:accent4>
        <a:srgbClr val="1D3557"/>
      </a:accent4>
      <a:accent5>
        <a:srgbClr val="7FB7BE"/>
      </a:accent5>
      <a:accent6>
        <a:srgbClr val="F4A261"/>
      </a:accent6>
      <a:hlink>
        <a:srgbClr val="457B9D"/>
      </a:hlink>
      <a:folHlink>
        <a:srgbClr val="1D3557"/>
      </a:folHlink>
    </a:clrScheme>
    <a:fontScheme name="PulseCam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PulseCam - heart rate from a webcam</dc:title>
  <dc:subject>PptxGenJS Presentation</dc:subject>
  <dc:creator>PulseCam team</dc:creator>
  <cp:lastModifiedBy>PulseCam team</cp:lastModifiedBy>
  <cp:revision>1</cp:revision>
  <dcterms:created xsi:type="dcterms:W3CDTF">2026-10-27T03:51:03Z</dcterms:created>
  <dcterms:modified xsi:type="dcterms:W3CDTF">2026-10-27T03:51:03Z</dcterms:modified>
</cp:coreProperties>
</file>