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EC81635-A437-C641-5E63-F18073602260}">
          <p14:sldIdLst>
            <p14:sldId id="256"/>
            <p14:sldId id="257"/>
            <p14:sldId id="258"/>
            <p14:sldId id="259"/>
          </p14:sldIdLst>
        </p14:section>
        <p14:section name="Method" id="{0A37E164-FF86-8869-FB70-198C60AA90AE}">
          <p14:sldIdLst>
            <p14:sldId id="260"/>
            <p14:sldId id="261"/>
          </p14:sldIdLst>
        </p14:section>
        <p14:section name="Results" id="{072B78EE-6AB7-ED97-CC05-193B996127EC}">
          <p14:sldIdLst>
            <p14:sldId id="262"/>
            <p14:sldId id="263"/>
            <p14:sldId id="264"/>
          </p14:sldIdLst>
        </p14:section>
        <p14:section name="The app" id="{9468BBC1-3F07-DA4C-2513-968EE31A361B}">
          <p14:sldIdLst>
            <p14:sldId id="265"/>
            <p14:sldId id="266"/>
            <p14:sldId id="267"/>
            <p14:sldId id="268"/>
          </p14:sldIdLst>
        </p14:section>
        <p14:section name="Wrap-up" id="{308E3E37-2942-80F3-37E1-A881FD624DE6}">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chemeClr val="tx2"/>
                </a:solidFill>
                <a:latin typeface="+mn-lt"/>
              </a:defRPr>
            </a:pPr>
            <a:r>
              <a:rPr sz="1400" b="0" i="0" u="none" strike="noStrike">
                <a:solidFill>
                  <a:schemeClr val="tx2"/>
                </a:solidFill>
                <a:latin typeface="+mn-lt"/>
              </a:rPr>
              <a:t>Mean absolute error per 10 s window, bpm (lower is better)</a:t>
            </a:r>
          </a:p>
        </c:rich>
      </c:tx>
      <c:overlay val="0"/>
    </c:title>
    <c:autoTitleDeleted val="0"/>
    <c:plotArea>
      <c:layout/>
      <c:barChart>
        <c:barDir val="bar"/>
        <c:grouping val="clustered"/>
        <c:varyColors val="0"/>
        <c:ser>
          <c:idx val="0"/>
          <c:order val="0"/>
          <c:tx>
            <c:strRef>
              <c:f>Sheet1!$B$1</c:f>
              <c:strCache>
                <c:ptCount val="1"/>
                <c:pt idx="0">
                  <c:v>TS-CAN (PURE)</c:v>
                </c:pt>
              </c:strCache>
            </c:strRef>
          </c:tx>
          <c:spPr>
            <a:solidFill>
              <a:srgbClr val="E63946"/>
            </a:solidFill>
            <a:effectLst/>
          </c:spPr>
          <c:invertIfNegative val="0"/>
          <c:dLbls>
            <c:numFmt formatCode="0.00;;;" sourceLinked="0"/>
            <c:spPr>
              <a:noFill/>
              <a:ln>
                <a:noFill/>
              </a:ln>
              <a:effectLst/>
            </c:spPr>
            <c:txPr>
              <a:bodyPr/>
              <a:lstStyle/>
              <a:p>
                <a:pPr>
                  <a:defRPr sz="1300" b="0" i="0" u="none" strike="noStrike">
                    <a:solidFill>
                      <a:schemeClr val="tx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TS-CAN (PURE)</c:v>
                </c:pt>
                <c:pt idx="1">
                  <c:v>CHROM</c:v>
                </c:pt>
                <c:pt idx="2">
                  <c:v>POS</c:v>
                </c:pt>
                <c:pt idx="3">
                  <c:v>ICA</c:v>
                </c:pt>
                <c:pt idx="4">
                  <c:v>TS-CAN (SCAMPS)</c:v>
                </c:pt>
                <c:pt idx="5">
                  <c:v>GREEN</c:v>
                </c:pt>
              </c:strCache>
            </c:strRef>
          </c:cat>
          <c:val>
            <c:numRef>
              <c:f>Sheet1!$B$2:$B$7</c:f>
              <c:numCache>
                <c:formatCode>General</c:formatCode>
                <c:ptCount val="6"/>
                <c:pt idx="0">
                  <c:v>1.8</c:v>
                </c:pt>
                <c:pt idx="1">
                  <c:v>0</c:v>
                </c:pt>
                <c:pt idx="2">
                  <c:v>0</c:v>
                </c:pt>
                <c:pt idx="3">
                  <c:v>0</c:v>
                </c:pt>
                <c:pt idx="4">
                  <c:v>0</c:v>
                </c:pt>
                <c:pt idx="5">
                  <c:v>0</c:v>
                </c:pt>
              </c:numCache>
            </c:numRef>
          </c:val>
          <c:extLst>
            <c:ext xmlns:c16="http://schemas.microsoft.com/office/drawing/2014/chart" uri="{C3380CC4-5D6E-409C-BE32-E72D297353CC}">
              <c16:uniqueId val="{00000000-1A43-46FB-BD8B-CA86865E9DA3}"/>
            </c:ext>
          </c:extLst>
        </c:ser>
        <c:ser>
          <c:idx val="1"/>
          <c:order val="1"/>
          <c:tx>
            <c:strRef>
              <c:f>Sheet1!$C$1</c:f>
              <c:strCache>
                <c:ptCount val="1"/>
                <c:pt idx="0">
                  <c:v>Other methods</c:v>
                </c:pt>
              </c:strCache>
            </c:strRef>
          </c:tx>
          <c:spPr>
            <a:solidFill>
              <a:srgbClr val="A8DADC"/>
            </a:solidFill>
            <a:effectLst/>
          </c:spPr>
          <c:invertIfNegative val="0"/>
          <c:dLbls>
            <c:numFmt formatCode="0.00;;;" sourceLinked="0"/>
            <c:spPr>
              <a:noFill/>
              <a:ln>
                <a:noFill/>
              </a:ln>
              <a:effectLst/>
            </c:spPr>
            <c:txPr>
              <a:bodyPr/>
              <a:lstStyle/>
              <a:p>
                <a:pPr>
                  <a:defRPr sz="1300" b="0" i="0" u="none" strike="noStrike">
                    <a:solidFill>
                      <a:schemeClr val="tx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TS-CAN (PURE)</c:v>
                </c:pt>
                <c:pt idx="1">
                  <c:v>CHROM</c:v>
                </c:pt>
                <c:pt idx="2">
                  <c:v>POS</c:v>
                </c:pt>
                <c:pt idx="3">
                  <c:v>ICA</c:v>
                </c:pt>
                <c:pt idx="4">
                  <c:v>TS-CAN (SCAMPS)</c:v>
                </c:pt>
                <c:pt idx="5">
                  <c:v>GREEN</c:v>
                </c:pt>
              </c:strCache>
            </c:strRef>
          </c:cat>
          <c:val>
            <c:numRef>
              <c:f>Sheet1!$C$2:$C$7</c:f>
              <c:numCache>
                <c:formatCode>General</c:formatCode>
                <c:ptCount val="6"/>
                <c:pt idx="0">
                  <c:v>0</c:v>
                </c:pt>
                <c:pt idx="1">
                  <c:v>2</c:v>
                </c:pt>
                <c:pt idx="2">
                  <c:v>4.5</c:v>
                </c:pt>
                <c:pt idx="3">
                  <c:v>6.73</c:v>
                </c:pt>
                <c:pt idx="4">
                  <c:v>12.83</c:v>
                </c:pt>
                <c:pt idx="5">
                  <c:v>19.38</c:v>
                </c:pt>
              </c:numCache>
            </c:numRef>
          </c:val>
          <c:extLst>
            <c:ext xmlns:c16="http://schemas.microsoft.com/office/drawing/2014/chart" uri="{C3380CC4-5D6E-409C-BE32-E72D297353CC}">
              <c16:uniqueId val="{00000001-1A43-46FB-BD8B-CA86865E9DA3}"/>
            </c:ext>
          </c:extLst>
        </c:ser>
        <c:dLbls>
          <c:showLegendKey val="0"/>
          <c:showVal val="1"/>
          <c:showCatName val="0"/>
          <c:showSerName val="0"/>
          <c:showPercent val="0"/>
          <c:showBubbleSize val="0"/>
        </c:dLbls>
        <c:gapWidth val="55"/>
        <c:overlap val="100"/>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chemeClr val="tx1"/>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chemeClr val="tx2"/>
                </a:solidFill>
                <a:latin typeface="+mn-lt"/>
              </a:defRPr>
            </a:pPr>
            <a:r>
              <a:rPr sz="1400" b="0" i="0" u="none" strike="noStrike">
                <a:solidFill>
                  <a:schemeClr val="tx2"/>
                </a:solidFill>
                <a:latin typeface="+mn-lt"/>
              </a:rPr>
              <a:t>Window MAE in bpm under five scoring methods</a:t>
            </a:r>
          </a:p>
        </c:rich>
      </c:tx>
      <c:overlay val="0"/>
    </c:title>
    <c:autoTitleDeleted val="0"/>
    <c:plotArea>
      <c:layout/>
      <c:barChart>
        <c:barDir val="col"/>
        <c:grouping val="clustered"/>
        <c:varyColors val="0"/>
        <c:ser>
          <c:idx val="0"/>
          <c:order val="0"/>
          <c:tx>
            <c:strRef>
              <c:f>Sheet1!$B$1</c:f>
              <c:strCache>
                <c:ptCount val="1"/>
                <c:pt idx="0">
                  <c:v>TS-CAN trained on PURE (real video)</c:v>
                </c:pt>
              </c:strCache>
            </c:strRef>
          </c:tx>
          <c:spPr>
            <a:solidFill>
              <a:srgbClr val="457B9D"/>
            </a:solidFill>
            <a:effectLst/>
          </c:spPr>
          <c:invertIfNegative val="0"/>
          <c:dLbls>
            <c:numFmt formatCode="0.0" sourceLinked="0"/>
            <c:spPr>
              <a:noFill/>
              <a:ln>
                <a:noFill/>
              </a:ln>
              <a:effectLst/>
            </c:spPr>
            <c:txPr>
              <a:bodyPr/>
              <a:lstStyle/>
              <a:p>
                <a:pPr>
                  <a:defRPr sz="1200" b="0" i="0" u="none" strike="noStrike">
                    <a:solidFill>
                      <a:schemeClr val="tx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Ours, first</c:v>
                </c:pt>
                <c:pt idx="1">
                  <c:v>Ours, final</c:v>
                </c:pt>
                <c:pt idx="2">
                  <c:v>Ours + toolbox scorer</c:v>
                </c:pt>
                <c:pt idx="3">
                  <c:v>Toolbox pipeline</c:v>
                </c:pt>
                <c:pt idx="4">
                  <c:v>Toolbox, per video</c:v>
                </c:pt>
              </c:strCache>
            </c:strRef>
          </c:cat>
          <c:val>
            <c:numRef>
              <c:f>Sheet1!$B$2:$B$6</c:f>
              <c:numCache>
                <c:formatCode>General</c:formatCode>
                <c:ptCount val="5"/>
                <c:pt idx="0">
                  <c:v>2.0099999999999998</c:v>
                </c:pt>
                <c:pt idx="1">
                  <c:v>1.8</c:v>
                </c:pt>
                <c:pt idx="2">
                  <c:v>1.69</c:v>
                </c:pt>
                <c:pt idx="3">
                  <c:v>1.4</c:v>
                </c:pt>
                <c:pt idx="4">
                  <c:v>1.28</c:v>
                </c:pt>
              </c:numCache>
            </c:numRef>
          </c:val>
          <c:extLst>
            <c:ext xmlns:c16="http://schemas.microsoft.com/office/drawing/2014/chart" uri="{C3380CC4-5D6E-409C-BE32-E72D297353CC}">
              <c16:uniqueId val="{00000000-1868-4457-A2F4-511107890B6A}"/>
            </c:ext>
          </c:extLst>
        </c:ser>
        <c:ser>
          <c:idx val="1"/>
          <c:order val="1"/>
          <c:tx>
            <c:strRef>
              <c:f>Sheet1!$C$1</c:f>
              <c:strCache>
                <c:ptCount val="1"/>
                <c:pt idx="0">
                  <c:v>TS-CAN trained on SCAMPS (synthetic)</c:v>
                </c:pt>
              </c:strCache>
            </c:strRef>
          </c:tx>
          <c:spPr>
            <a:solidFill>
              <a:srgbClr val="E63946"/>
            </a:solidFill>
            <a:effectLst/>
          </c:spPr>
          <c:invertIfNegative val="0"/>
          <c:dLbls>
            <c:numFmt formatCode="0.0" sourceLinked="0"/>
            <c:spPr>
              <a:noFill/>
              <a:ln>
                <a:noFill/>
              </a:ln>
              <a:effectLst/>
            </c:spPr>
            <c:txPr>
              <a:bodyPr/>
              <a:lstStyle/>
              <a:p>
                <a:pPr>
                  <a:defRPr sz="1200" b="0" i="0" u="none" strike="noStrike">
                    <a:solidFill>
                      <a:schemeClr val="tx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Ours, first</c:v>
                </c:pt>
                <c:pt idx="1">
                  <c:v>Ours, final</c:v>
                </c:pt>
                <c:pt idx="2">
                  <c:v>Ours + toolbox scorer</c:v>
                </c:pt>
                <c:pt idx="3">
                  <c:v>Toolbox pipeline</c:v>
                </c:pt>
                <c:pt idx="4">
                  <c:v>Toolbox, per video</c:v>
                </c:pt>
              </c:strCache>
            </c:strRef>
          </c:cat>
          <c:val>
            <c:numRef>
              <c:f>Sheet1!$C$2:$C$6</c:f>
              <c:numCache>
                <c:formatCode>General</c:formatCode>
                <c:ptCount val="5"/>
                <c:pt idx="0">
                  <c:v>14.05</c:v>
                </c:pt>
                <c:pt idx="1">
                  <c:v>12.83</c:v>
                </c:pt>
                <c:pt idx="2">
                  <c:v>12.54</c:v>
                </c:pt>
                <c:pt idx="3">
                  <c:v>10.42</c:v>
                </c:pt>
                <c:pt idx="4">
                  <c:v>8.6199999999999992</c:v>
                </c:pt>
              </c:numCache>
            </c:numRef>
          </c:val>
          <c:extLst>
            <c:ext xmlns:c16="http://schemas.microsoft.com/office/drawing/2014/chart" uri="{C3380CC4-5D6E-409C-BE32-E72D297353CC}">
              <c16:uniqueId val="{00000001-1868-4457-A2F4-511107890B6A}"/>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chemeClr val="tx1"/>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200">
              <a:solidFill>
                <a:schemeClr val="tx1"/>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103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guide. PulseCam estimates resting heart rate from ordinary face video, live from a webcam or from a recorded file. We compare classical signal-processing methods with a deep model on a public dataset, and we built a local web app for the demo. Say early and clearly: this is a research prototype, not a medical device.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common way to measure heart rate needs contact or a device. A webcam is already in every laptop and phone. rPPG uses it to read the pulse without touching the person. The open problem we care about: the public datasets mostly contain lighter skin, so nobody really knows how well this works for Indian users.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heartbeat pushes a little more blood into the face, which changes how much light the skin absorbs. The change is far too small to see, but a 30 fps camera records it. We turn the colour of the skin over time into a pulse signal, then use an FFT to find its strongest frequency f. Heart rate is 60 times f: a 1.2 Hz peak is 72 beats per minute. The waveform on the left is a real screenshot from our app.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research questions from the project specification. RQ1 and RQ2 are answered with the public UBFC-rPPG dataset. RQ3 and RQ4 need our own recordings of consenting volunteers with a reference heart-rate device. That data collection has not happened yet, so we say so openly.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pipeline, the same code for the evaluation, the upload and the live demo. MediaPipe finds the face and the skin patches, we crop a 72 by 72 image, the model turns colour changes into a pulse signal, a band-pass filter keeps the plausible heart-rate band, and the FFT peak gives beats per minute. In the live demo we keep the last 10 seconds, show the median of the last five estimates, and warn when the person moves, the room is dark or the signal is weak.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classical methods need no training at all. TS-CAN is the deep model; we used the rPPG-Toolbox weights trained on two different datasets, PURE which is real video and SCAMPS which is synthetic. All six are scored the same way on all 42 UBFC videos: every 10-second window against the ground-truth pulse from a finger clip. Mean absolute error in beats per minute is the main number.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RQ1. On all 42 UBFC videos, TS-CAN trained on PURE has the lowest error, 1.80 beats per minute per window, but the best classical method, CHROM, is close at 2.00. When we take one reading per video, the two tie exactly at 0.72. So the deep model meets our target of beating every classical baseline, but only narrowly, and CHROM keeps a slightly better correlation. GREEN, the simplest method, is far behind.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Bland-Altman plot shows each window: difference between our estimate and the reference against their mean. Almost all points sit on the zero line and the average bias is under one beat per minute. The limits are wide only because of a handful of windows where the method locks onto a wrong frequency. That is why RMSE is almost four times the MAE.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RQ2 is about transfer between datasets. The same network trained on real video, PURE, works well on UBFC; trained on synthetic faces, SCAMPS, it is about seven times worse. Because that was surprising, we re-scored the same predictions five ways, including the toolbox’s own pipeline. The gap never closes, so it is a real property of the SCAMPS model. We also fine-tuned TS-CAN on UBFC with a person-wise split: 1.60 to 1.58 is within noise, so we kept the released weights.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 is a local web app we built: a small Python server and one web page. It has four tabs: a live measurement, an upload for recorded videos, the results of our evaluation and the project status. Nothing goes to the cloud; video is processed on the laptop and uploaded files are deleted straight after analysis.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mode. You press Start and sit still; the white box is the face and the three small boxes are the forehead and cheeks we read colour from. After about 15 seconds the first reading appears and it updates every few seconds; after 30 seconds the final value stays on screen. Be honest here: these screenshots come from a test run with a dataset frame and a simulated 72 bpm pulse, and the app returned 72. A run with a real volunteer and a reference device is still on our to-do list.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uploaded a real 53-second UBFC video. PulseCam reports 107.2 beats per minute; the finger-clip ground truth is 106.7. You can see one window where the estimate drops to 76: that is the wrong-frequency failure from the Bland-Altman slide, and the median ignores it. The upload uses exactly the same function as our evaluation scripts, so the demo and the reported numbers cannot drift apart.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Getting live readings on a normal laptop took real engineering, and every number here was measured. Compression of the video frames on the WebSocket cost about 116 ms per frame, so we turned it off. Loading the face detector once at start-up removed a 4-second gap. TS-CAN was faster on 2 threads than on 4, and running it in the background keeps the camera at 20+ frames per second. We send raw frames on purpose: compressing a video destroys the tiny colour change we measure.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first: the biggest is that we have no volunteer recordings yet, so the skin-tone and robustness questions are open. UBFC is an easy dataset, so real webcams will do worse. On ethics: nobody is recorded without written consent, we follow the DPDP Act, videos stay private and are identified by IDs only, and the face in this deck is blurred.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on UBFC, the deep model narrowly beats the best classical method and ties it per video; training on real video transfers well while synthetic training does not; and the app works end to end on a laptop. The skin-tone and robustness questions need volunteer recordings, which is our next step. Thank you, we are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731520" y="1325880"/>
            <a:ext cx="1051560" cy="680314"/>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548640" y="6382512"/>
            <a:ext cx="329184" cy="213055"/>
          </a:xfrm>
          <a:prstGeom prst="rect">
            <a:avLst/>
          </a:prstGeom>
        </p:spPr>
      </p:pic>
      <p:sp>
        <p:nvSpPr>
          <p:cNvPr id="3" name="Text 0"/>
          <p:cNvSpPr/>
          <p:nvPr/>
        </p:nvSpPr>
        <p:spPr>
          <a:xfrm>
            <a:off x="950976" y="6336792"/>
            <a:ext cx="1828800" cy="292608"/>
          </a:xfrm>
          <a:prstGeom prst="rect">
            <a:avLst/>
          </a:prstGeom>
          <a:noFill/>
          <a:ln/>
        </p:spPr>
        <p:txBody>
          <a:bodyPr wrap="square" lIns="0" tIns="0" rIns="0" bIns="0" rtlCol="0" anchor="ctr"/>
          <a:lstStyle/>
          <a:p>
            <a:pPr marL="0" indent="0">
              <a:buNone/>
            </a:pPr>
            <a:r>
              <a:rPr lang="en-US" sz="1100" b="1" dirty="0">
                <a:solidFill>
                  <a:schemeClr val="tx1"/>
                </a:solidFill>
              </a:rPr>
              <a:t>PulseCam</a:t>
            </a:r>
            <a:endParaRPr lang="en-US" sz="1100" dirty="0"/>
          </a:p>
        </p:txBody>
      </p:sp>
      <p:sp>
        <p:nvSpPr>
          <p:cNvPr id="4" name="Text 1"/>
          <p:cNvSpPr/>
          <p:nvPr/>
        </p:nvSpPr>
        <p:spPr>
          <a:xfrm>
            <a:off x="3813048" y="6336792"/>
            <a:ext cx="4572000" cy="292608"/>
          </a:xfrm>
          <a:prstGeom prst="rect">
            <a:avLst/>
          </a:prstGeom>
          <a:noFill/>
          <a:ln/>
        </p:spPr>
        <p:txBody>
          <a:bodyPr wrap="square" lIns="0" tIns="0" rIns="0" bIns="0" rtlCol="0" anchor="ctr"/>
          <a:lstStyle/>
          <a:p>
            <a:pPr marL="0" indent="0" algn="ctr">
              <a:buNone/>
            </a:pPr>
            <a:r>
              <a:rPr lang="en-US" sz="1000" dirty="0">
                <a:solidFill>
                  <a:schemeClr val="tx2"/>
                </a:solidFill>
              </a:rPr>
              <a:t>Research prototype · not a medical device</a:t>
            </a:r>
            <a:endParaRPr lang="en-US" sz="1000" dirty="0"/>
          </a:p>
        </p:txBody>
      </p:sp>
      <p:sp>
        <p:nvSpPr>
          <p:cNvPr id="5" name="Text 2"/>
          <p:cNvSpPr>
            <a:spLocks noGrp="1"/>
          </p:cNvSpPr>
          <p:nvPr>
            <p:ph type="title" idx="103" hasCustomPrompt="1"/>
          </p:nvPr>
        </p:nvSpPr>
        <p:spPr>
          <a:xfrm>
            <a:off x="548640" y="384048"/>
            <a:ext cx="11091672" cy="731520"/>
          </a:xfrm>
          <a:prstGeom prst="rect">
            <a:avLst/>
          </a:prstGeom>
          <a:noFill/>
          <a:ln/>
        </p:spPr>
        <p:txBody>
          <a:bodyPr wrap="square" rtlCol="0"/>
          <a:lstStyle>
            <a:lvl1pPr marL="0" indent="0" algn="l">
              <a:buNone/>
              <a:defRPr lang="en-US" sz="3600" b="1" dirty="0">
                <a:solidFill>
                  <a:schemeClr val="tx1"/>
                </a:solidFill>
              </a:defRPr>
            </a:lvl1pPr>
          </a:lstStyle>
          <a:p>
            <a:pPr marL="0" indent="0" algn="l">
              <a:buNone/>
            </a:pPr>
            <a:endParaRPr lang="en-US" sz="3600" dirty="0"/>
          </a:p>
        </p:txBody>
      </p:sp>
      <p:sp>
        <p:nvSpPr>
          <p:cNvPr id="25" name="Slide Number Placeholder 0"/>
          <p:cNvSpPr>
            <a:spLocks noGrp="1"/>
          </p:cNvSpPr>
          <p:nvPr>
            <p:ph type="sldNum" sz="quarter" idx="4294967295"/>
          </p:nvPr>
        </p:nvSpPr>
        <p:spPr>
          <a:xfrm>
            <a:off x="11091672" y="6336792"/>
            <a:ext cx="54864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36792"/>
            <a:ext cx="54864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5.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0.pn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2148840"/>
            <a:ext cx="5486400" cy="960120"/>
          </a:xfrm>
          <a:prstGeom prst="rect">
            <a:avLst/>
          </a:prstGeom>
          <a:noFill/>
          <a:ln/>
        </p:spPr>
        <p:txBody>
          <a:bodyPr wrap="square" lIns="0" tIns="0" rIns="0" bIns="0" rtlCol="0" anchor="t"/>
          <a:lstStyle/>
          <a:p>
            <a:pPr marL="0" indent="0">
              <a:buNone/>
            </a:pPr>
            <a:r>
              <a:rPr lang="en-US" sz="6000" b="1" dirty="0">
                <a:solidFill>
                  <a:schemeClr val="bg1"/>
                </a:solidFill>
                <a:latin typeface="+mj-lt" pitchFamily="34" charset="0"/>
                <a:ea typeface="+mj-lt" pitchFamily="34" charset="-122"/>
                <a:cs typeface="+mj-lt" pitchFamily="34" charset="-120"/>
              </a:rPr>
              <a:t>PulseCam</a:t>
            </a:r>
            <a:endParaRPr lang="en-US" sz="6000" dirty="0"/>
          </a:p>
        </p:txBody>
      </p:sp>
      <p:sp>
        <p:nvSpPr>
          <p:cNvPr id="3" name="Text 1"/>
          <p:cNvSpPr txBox="1"/>
          <p:nvPr/>
        </p:nvSpPr>
        <p:spPr>
          <a:xfrm>
            <a:off x="731520" y="3200400"/>
            <a:ext cx="5212080" cy="960120"/>
          </a:xfrm>
          <a:prstGeom prst="rect">
            <a:avLst/>
          </a:prstGeom>
          <a:noFill/>
          <a:ln/>
        </p:spPr>
        <p:txBody>
          <a:bodyPr wrap="square" lIns="0" tIns="0" rIns="0" bIns="0" rtlCol="0" anchor="t"/>
          <a:lstStyle/>
          <a:p>
            <a:pPr marL="0" indent="0">
              <a:buNone/>
            </a:pPr>
            <a:r>
              <a:rPr lang="en-US" sz="2200" dirty="0">
                <a:solidFill>
                  <a:schemeClr val="accent3"/>
                </a:solidFill>
              </a:rPr>
              <a:t>Measuring heart rate from a normal webcam: classical vs deep rPPG</a:t>
            </a:r>
            <a:endParaRPr lang="en-US" sz="2200" dirty="0"/>
          </a:p>
        </p:txBody>
      </p:sp>
      <p:sp>
        <p:nvSpPr>
          <p:cNvPr id="4" name="Text 2"/>
          <p:cNvSpPr txBox="1"/>
          <p:nvPr/>
        </p:nvSpPr>
        <p:spPr>
          <a:xfrm>
            <a:off x="731520" y="4526280"/>
            <a:ext cx="5212080" cy="365760"/>
          </a:xfrm>
          <a:prstGeom prst="rect">
            <a:avLst/>
          </a:prstGeom>
          <a:noFill/>
          <a:ln/>
        </p:spPr>
        <p:txBody>
          <a:bodyPr wrap="square" lIns="0" tIns="0" rIns="0" bIns="0" rtlCol="0" anchor="t"/>
          <a:lstStyle/>
          <a:p>
            <a:pPr>
              <a:spcAft>
                <a:spcPts val="300"/>
              </a:spcAft>
            </a:pPr>
            <a:r>
              <a:rPr lang="en-US" sz="1600" dirty="0">
                <a:solidFill>
                  <a:srgbClr val="FFFFFF"/>
                </a:solidFill>
                <a:latin typeface="Segoe UI" panose="020B0502040204020203" pitchFamily="34" charset="0"/>
              </a:rPr>
              <a:t>Aryan Singh  |  Roll no. 202310101150038</a:t>
            </a:r>
          </a:p>
          <a:p>
            <a:pPr>
              <a:spcAft>
                <a:spcPts val="300"/>
              </a:spcAft>
            </a:pPr>
            <a:r>
              <a:rPr lang="en-US" sz="1600" dirty="0">
                <a:solidFill>
                  <a:srgbClr val="FFFFFF"/>
                </a:solidFill>
                <a:latin typeface="Segoe UI" panose="020B0502040204020203" pitchFamily="34" charset="0"/>
              </a:rPr>
              <a:t>Ruchi Singh  |  Roll no. 202310101150025</a:t>
            </a:r>
          </a:p>
          <a:p>
            <a:pPr>
              <a:spcAft>
                <a:spcPts val="300"/>
              </a:spcAft>
            </a:pPr>
            <a:r>
              <a:rPr lang="en-US" sz="1600" dirty="0">
                <a:solidFill>
                  <a:srgbClr val="FFFFFF"/>
                </a:solidFill>
                <a:latin typeface="Segoe UI" panose="020B0502040204020203" pitchFamily="34" charset="0"/>
              </a:rPr>
              <a:t>Ananya Dwivedi  |  Roll no. 202310101150039</a:t>
            </a:r>
          </a:p>
          <a:p>
            <a:pPr marL="0" indent="0">
              <a:buNone/>
            </a:pPr>
            <a:endParaRPr lang="en-US" sz="1500" dirty="0"/>
          </a:p>
          <a:p>
            <a:r>
              <a:rPr lang="en-US" sz="1600" dirty="0" err="1">
                <a:solidFill>
                  <a:srgbClr val="A8DADC"/>
                </a:solidFill>
                <a:latin typeface="Segoe UI" panose="020B0502040204020203" pitchFamily="34" charset="0"/>
              </a:rPr>
              <a:t>B.Tech</a:t>
            </a:r>
            <a:r>
              <a:rPr lang="en-US" sz="1600" dirty="0">
                <a:solidFill>
                  <a:srgbClr val="A8DADC"/>
                </a:solidFill>
                <a:latin typeface="Segoe UI" panose="020B0502040204020203" pitchFamily="34" charset="0"/>
              </a:rPr>
              <a:t> CS (DS + AI)  |  Group 71, 72</a:t>
            </a:r>
          </a:p>
          <a:p>
            <a:pPr marL="0" indent="0">
              <a:buNone/>
            </a:pPr>
            <a:endParaRPr lang="en-US" sz="1500" dirty="0"/>
          </a:p>
        </p:txBody>
      </p:sp>
      <p:sp>
        <p:nvSpPr>
          <p:cNvPr id="5" name="Text 3"/>
          <p:cNvSpPr txBox="1"/>
          <p:nvPr/>
        </p:nvSpPr>
        <p:spPr>
          <a:xfrm>
            <a:off x="731520" y="4937760"/>
            <a:ext cx="5212080" cy="365760"/>
          </a:xfrm>
          <a:prstGeom prst="rect">
            <a:avLst/>
          </a:prstGeom>
          <a:noFill/>
          <a:ln/>
        </p:spPr>
        <p:txBody>
          <a:bodyPr wrap="square" lIns="0" tIns="0" rIns="0" bIns="0" rtlCol="0" anchor="t"/>
          <a:lstStyle/>
          <a:p>
            <a:pPr marL="0" indent="0">
              <a:buNone/>
            </a:pPr>
            <a:endParaRPr lang="en-US" sz="1500" dirty="0"/>
          </a:p>
        </p:txBody>
      </p:sp>
      <p:pic>
        <p:nvPicPr>
          <p:cNvPr id="6" name="Title screenshot" descr="C:\Users\ASUS\AppData\Local\Temp\claude\D--PulseCam\15b79863-0d9b-43e5-86fa-f970749171f7\scratchpad\deck\img\final.png"/>
          <p:cNvPicPr>
            <a:picLocks noChangeAspect="1"/>
          </p:cNvPicPr>
          <p:nvPr/>
        </p:nvPicPr>
        <p:blipFill>
          <a:blip r:embed="rId3"/>
          <a:stretch>
            <a:fillRect/>
          </a:stretch>
        </p:blipFill>
        <p:spPr>
          <a:xfrm>
            <a:off x="6096000" y="1732500"/>
            <a:ext cx="5303520" cy="2323399"/>
          </a:xfrm>
          <a:prstGeom prst="rect">
            <a:avLst/>
          </a:prstGeom>
          <a:effectLst>
            <a:outerShdw blurRad="203200" dist="63500" dir="5400000" algn="bl" rotWithShape="0">
              <a:srgbClr val="1D3557">
                <a:alpha val="16000"/>
              </a:srgbClr>
            </a:outerShdw>
          </a:effectLst>
        </p:spPr>
      </p:pic>
      <p:sp>
        <p:nvSpPr>
          <p:cNvPr id="7" name="Text 4"/>
          <p:cNvSpPr txBox="1"/>
          <p:nvPr/>
        </p:nvSpPr>
        <p:spPr>
          <a:xfrm>
            <a:off x="6355080" y="4343400"/>
            <a:ext cx="5303520" cy="320040"/>
          </a:xfrm>
          <a:prstGeom prst="rect">
            <a:avLst/>
          </a:prstGeom>
          <a:noFill/>
          <a:ln/>
        </p:spPr>
        <p:txBody>
          <a:bodyPr wrap="square" lIns="0" tIns="0" rIns="0" bIns="0" rtlCol="0" anchor="t"/>
          <a:lstStyle/>
          <a:p>
            <a:pPr marL="0" indent="0">
              <a:buNone/>
            </a:pPr>
            <a:r>
              <a:rPr lang="en-US" sz="1200" i="1" dirty="0">
                <a:solidFill>
                  <a:schemeClr val="accent3"/>
                </a:solidFill>
              </a:rPr>
              <a:t>The PulseCam web app after a 30-second measurement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a:spLocks noGrp="1"/>
          </p:cNvSpPr>
          <p:nvPr>
            <p:ph type="title" idx="103" hasCustomPrompt="1"/>
          </p:nvPr>
        </p:nvSpPr>
        <p:spPr>
          <a:xfrm>
            <a:off x="548640" y="384048"/>
            <a:ext cx="11091672" cy="731520"/>
          </a:xfrm>
          <a:prstGeom prst="rect">
            <a:avLst/>
          </a:prstGeom>
          <a:noFill/>
          <a:ln/>
        </p:spPr>
        <p:txBody>
          <a:bodyPr wrap="square" lIns="0" tIns="0" rIns="0" bIns="0" rtlCol="0" anchor="ctr"/>
          <a:lstStyle/>
          <a:p>
            <a:pPr marL="0" indent="0" algn="l">
              <a:buNone/>
            </a:pPr>
            <a:r>
              <a:rPr lang="en-US" sz="3600" b="1" dirty="0">
                <a:solidFill>
                  <a:schemeClr val="tx1"/>
                </a:solidFill>
              </a:rPr>
              <a:t>Heart rate today needs contact</a:t>
            </a:r>
            <a:endParaRPr lang="en-US" sz="3600" dirty="0"/>
          </a:p>
        </p:txBody>
      </p:sp>
      <p:sp>
        <p:nvSpPr>
          <p:cNvPr id="3" name="Shape 1"/>
          <p:cNvSpPr/>
          <p:nvPr/>
        </p:nvSpPr>
        <p:spPr>
          <a:xfrm>
            <a:off x="548640" y="1600200"/>
            <a:ext cx="731520" cy="731520"/>
          </a:xfrm>
          <a:prstGeom prst="ellipse">
            <a:avLst/>
          </a:prstGeom>
          <a:solidFill>
            <a:schemeClr val="accent3"/>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731520" y="1783080"/>
            <a:ext cx="365760" cy="365760"/>
          </a:xfrm>
          <a:prstGeom prst="rect">
            <a:avLst/>
          </a:prstGeom>
        </p:spPr>
      </p:pic>
      <p:sp>
        <p:nvSpPr>
          <p:cNvPr id="5" name="Text 2"/>
          <p:cNvSpPr txBox="1"/>
          <p:nvPr/>
        </p:nvSpPr>
        <p:spPr>
          <a:xfrm>
            <a:off x="1508760" y="1618488"/>
            <a:ext cx="4206240" cy="365760"/>
          </a:xfrm>
          <a:prstGeom prst="rect">
            <a:avLst/>
          </a:prstGeom>
          <a:noFill/>
          <a:ln/>
        </p:spPr>
        <p:txBody>
          <a:bodyPr wrap="square" lIns="0" tIns="0" rIns="0" bIns="0" rtlCol="0" anchor="t"/>
          <a:lstStyle/>
          <a:p>
            <a:pPr marL="0" indent="0">
              <a:buNone/>
            </a:pPr>
            <a:r>
              <a:rPr lang="en-US" sz="1900" b="1" dirty="0">
                <a:solidFill>
                  <a:schemeClr val="tx1"/>
                </a:solidFill>
              </a:rPr>
              <a:t>Finger-clip oximeter</a:t>
            </a:r>
            <a:endParaRPr lang="en-US" sz="1900" dirty="0"/>
          </a:p>
        </p:txBody>
      </p:sp>
      <p:sp>
        <p:nvSpPr>
          <p:cNvPr id="6" name="Text 3"/>
          <p:cNvSpPr txBox="1"/>
          <p:nvPr/>
        </p:nvSpPr>
        <p:spPr>
          <a:xfrm>
            <a:off x="1508760" y="2002536"/>
            <a:ext cx="4206240" cy="365760"/>
          </a:xfrm>
          <a:prstGeom prst="rect">
            <a:avLst/>
          </a:prstGeom>
          <a:noFill/>
          <a:ln/>
        </p:spPr>
        <p:txBody>
          <a:bodyPr wrap="square" lIns="0" tIns="0" rIns="0" bIns="0" rtlCol="0" anchor="t"/>
          <a:lstStyle/>
          <a:p>
            <a:pPr marL="0" indent="0">
              <a:buNone/>
            </a:pPr>
            <a:r>
              <a:rPr lang="en-US" sz="1500" dirty="0">
                <a:solidFill>
                  <a:schemeClr val="tx2"/>
                </a:solidFill>
              </a:rPr>
              <a:t>Has to touch the finger; one person at a time</a:t>
            </a:r>
            <a:endParaRPr lang="en-US" sz="1500" dirty="0"/>
          </a:p>
        </p:txBody>
      </p:sp>
      <p:sp>
        <p:nvSpPr>
          <p:cNvPr id="7" name="Shape 4"/>
          <p:cNvSpPr/>
          <p:nvPr/>
        </p:nvSpPr>
        <p:spPr>
          <a:xfrm>
            <a:off x="548640" y="2788920"/>
            <a:ext cx="731520" cy="731520"/>
          </a:xfrm>
          <a:prstGeom prst="ellipse">
            <a:avLst/>
          </a:prstGeom>
          <a:solidFill>
            <a:schemeClr val="accent3"/>
          </a:solidFill>
          <a:ln/>
        </p:spPr>
        <p:txBody>
          <a:bodyPr/>
          <a:lstStyle/>
          <a:p>
            <a:endParaRPr lang="en-US"/>
          </a:p>
        </p:txBody>
      </p:sp>
      <p:pic>
        <p:nvPicPr>
          <p:cNvPr id="8" name="Image 1" descr="preencoded.png"/>
          <p:cNvPicPr>
            <a:picLocks noChangeAspect="1"/>
          </p:cNvPicPr>
          <p:nvPr/>
        </p:nvPicPr>
        <p:blipFill>
          <a:blip r:embed="rId4"/>
          <a:stretch>
            <a:fillRect/>
          </a:stretch>
        </p:blipFill>
        <p:spPr>
          <a:xfrm>
            <a:off x="731520" y="2971800"/>
            <a:ext cx="365760" cy="365760"/>
          </a:xfrm>
          <a:prstGeom prst="rect">
            <a:avLst/>
          </a:prstGeom>
        </p:spPr>
      </p:pic>
      <p:sp>
        <p:nvSpPr>
          <p:cNvPr id="9" name="Text 5"/>
          <p:cNvSpPr txBox="1"/>
          <p:nvPr/>
        </p:nvSpPr>
        <p:spPr>
          <a:xfrm>
            <a:off x="1508760" y="2807208"/>
            <a:ext cx="4206240" cy="365760"/>
          </a:xfrm>
          <a:prstGeom prst="rect">
            <a:avLst/>
          </a:prstGeom>
          <a:noFill/>
          <a:ln/>
        </p:spPr>
        <p:txBody>
          <a:bodyPr wrap="square" lIns="0" tIns="0" rIns="0" bIns="0" rtlCol="0" anchor="t"/>
          <a:lstStyle/>
          <a:p>
            <a:pPr marL="0" indent="0">
              <a:buNone/>
            </a:pPr>
            <a:r>
              <a:rPr lang="en-US" sz="1900" b="1" dirty="0">
                <a:solidFill>
                  <a:schemeClr val="tx1"/>
                </a:solidFill>
              </a:rPr>
              <a:t>Chest strap or ECG</a:t>
            </a:r>
            <a:endParaRPr lang="en-US" sz="1900" dirty="0"/>
          </a:p>
        </p:txBody>
      </p:sp>
      <p:sp>
        <p:nvSpPr>
          <p:cNvPr id="10" name="Text 6"/>
          <p:cNvSpPr txBox="1"/>
          <p:nvPr/>
        </p:nvSpPr>
        <p:spPr>
          <a:xfrm>
            <a:off x="1508760" y="3191256"/>
            <a:ext cx="4206240" cy="365760"/>
          </a:xfrm>
          <a:prstGeom prst="rect">
            <a:avLst/>
          </a:prstGeom>
          <a:noFill/>
          <a:ln/>
        </p:spPr>
        <p:txBody>
          <a:bodyPr wrap="square" lIns="0" tIns="0" rIns="0" bIns="0" rtlCol="0" anchor="t"/>
          <a:lstStyle/>
          <a:p>
            <a:pPr marL="0" indent="0">
              <a:buNone/>
            </a:pPr>
            <a:r>
              <a:rPr lang="en-US" sz="1500" dirty="0">
                <a:solidFill>
                  <a:schemeClr val="tx2"/>
                </a:solidFill>
              </a:rPr>
              <a:t>Worn on the body; not for a quick check</a:t>
            </a:r>
            <a:endParaRPr lang="en-US" sz="1500" dirty="0"/>
          </a:p>
        </p:txBody>
      </p:sp>
      <p:sp>
        <p:nvSpPr>
          <p:cNvPr id="11" name="Shape 7"/>
          <p:cNvSpPr/>
          <p:nvPr/>
        </p:nvSpPr>
        <p:spPr>
          <a:xfrm>
            <a:off x="548640" y="3977640"/>
            <a:ext cx="731520" cy="731520"/>
          </a:xfrm>
          <a:prstGeom prst="ellipse">
            <a:avLst/>
          </a:prstGeom>
          <a:solidFill>
            <a:schemeClr val="accent3"/>
          </a:solidFill>
          <a:ln/>
        </p:spPr>
        <p:txBody>
          <a:bodyPr/>
          <a:lstStyle/>
          <a:p>
            <a:endParaRPr lang="en-US"/>
          </a:p>
        </p:txBody>
      </p:sp>
      <p:pic>
        <p:nvPicPr>
          <p:cNvPr id="12" name="Image 2" descr="preencoded.png"/>
          <p:cNvPicPr>
            <a:picLocks noChangeAspect="1"/>
          </p:cNvPicPr>
          <p:nvPr/>
        </p:nvPicPr>
        <p:blipFill>
          <a:blip r:embed="rId5"/>
          <a:stretch>
            <a:fillRect/>
          </a:stretch>
        </p:blipFill>
        <p:spPr>
          <a:xfrm>
            <a:off x="731520" y="4160520"/>
            <a:ext cx="365760" cy="365760"/>
          </a:xfrm>
          <a:prstGeom prst="rect">
            <a:avLst/>
          </a:prstGeom>
        </p:spPr>
      </p:pic>
      <p:sp>
        <p:nvSpPr>
          <p:cNvPr id="13" name="Text 8"/>
          <p:cNvSpPr txBox="1"/>
          <p:nvPr/>
        </p:nvSpPr>
        <p:spPr>
          <a:xfrm>
            <a:off x="1508760" y="3995928"/>
            <a:ext cx="4206240" cy="365760"/>
          </a:xfrm>
          <a:prstGeom prst="rect">
            <a:avLst/>
          </a:prstGeom>
          <a:noFill/>
          <a:ln/>
        </p:spPr>
        <p:txBody>
          <a:bodyPr wrap="square" lIns="0" tIns="0" rIns="0" bIns="0" rtlCol="0" anchor="t"/>
          <a:lstStyle/>
          <a:p>
            <a:pPr marL="0" indent="0">
              <a:buNone/>
            </a:pPr>
            <a:r>
              <a:rPr lang="en-US" sz="1900" b="1" dirty="0">
                <a:solidFill>
                  <a:schemeClr val="tx1"/>
                </a:solidFill>
              </a:rPr>
              <a:t>Smartwatch</a:t>
            </a:r>
            <a:endParaRPr lang="en-US" sz="1900" dirty="0"/>
          </a:p>
        </p:txBody>
      </p:sp>
      <p:sp>
        <p:nvSpPr>
          <p:cNvPr id="14" name="Text 9"/>
          <p:cNvSpPr txBox="1"/>
          <p:nvPr/>
        </p:nvSpPr>
        <p:spPr>
          <a:xfrm>
            <a:off x="1508760" y="4379976"/>
            <a:ext cx="4206240" cy="365760"/>
          </a:xfrm>
          <a:prstGeom prst="rect">
            <a:avLst/>
          </a:prstGeom>
          <a:noFill/>
          <a:ln/>
        </p:spPr>
        <p:txBody>
          <a:bodyPr wrap="square" lIns="0" tIns="0" rIns="0" bIns="0" rtlCol="0" anchor="t"/>
          <a:lstStyle/>
          <a:p>
            <a:pPr marL="0" indent="0">
              <a:buNone/>
            </a:pPr>
            <a:r>
              <a:rPr lang="en-US" sz="1500" dirty="0">
                <a:solidFill>
                  <a:schemeClr val="tx2"/>
                </a:solidFill>
              </a:rPr>
              <a:t>Costs money; not everyone owns one</a:t>
            </a:r>
            <a:endParaRPr lang="en-US" sz="1500" dirty="0"/>
          </a:p>
        </p:txBody>
      </p:sp>
      <p:sp>
        <p:nvSpPr>
          <p:cNvPr id="15" name="Opportunity card"/>
          <p:cNvSpPr/>
          <p:nvPr/>
        </p:nvSpPr>
        <p:spPr>
          <a:xfrm>
            <a:off x="6263640" y="1463040"/>
            <a:ext cx="5376672" cy="4480560"/>
          </a:xfrm>
          <a:prstGeom prst="roundRect">
            <a:avLst>
              <a:gd name="adj" fmla="val 3673"/>
            </a:avLst>
          </a:prstGeom>
          <a:solidFill>
            <a:schemeClr val="bg2"/>
          </a:solidFill>
          <a:ln/>
        </p:spPr>
        <p:txBody>
          <a:bodyPr/>
          <a:lstStyle/>
          <a:p>
            <a:endParaRPr lang="en-US"/>
          </a:p>
        </p:txBody>
      </p:sp>
      <p:sp>
        <p:nvSpPr>
          <p:cNvPr id="16" name="Shape 11"/>
          <p:cNvSpPr/>
          <p:nvPr/>
        </p:nvSpPr>
        <p:spPr>
          <a:xfrm>
            <a:off x="6629400" y="1828800"/>
            <a:ext cx="731520" cy="731520"/>
          </a:xfrm>
          <a:prstGeom prst="ellipse">
            <a:avLst/>
          </a:prstGeom>
          <a:solidFill>
            <a:schemeClr val="accent1"/>
          </a:solidFill>
          <a:ln/>
        </p:spPr>
        <p:txBody>
          <a:bodyPr/>
          <a:lstStyle/>
          <a:p>
            <a:endParaRPr lang="en-US"/>
          </a:p>
        </p:txBody>
      </p:sp>
      <p:pic>
        <p:nvPicPr>
          <p:cNvPr id="17" name="Image 3" descr="preencoded.png"/>
          <p:cNvPicPr>
            <a:picLocks noChangeAspect="1"/>
          </p:cNvPicPr>
          <p:nvPr/>
        </p:nvPicPr>
        <p:blipFill>
          <a:blip r:embed="rId6"/>
          <a:stretch>
            <a:fillRect/>
          </a:stretch>
        </p:blipFill>
        <p:spPr>
          <a:xfrm>
            <a:off x="6812280" y="2011680"/>
            <a:ext cx="365760" cy="365760"/>
          </a:xfrm>
          <a:prstGeom prst="rect">
            <a:avLst/>
          </a:prstGeom>
        </p:spPr>
      </p:pic>
      <p:sp>
        <p:nvSpPr>
          <p:cNvPr id="18" name="Text 12"/>
          <p:cNvSpPr txBox="1"/>
          <p:nvPr/>
        </p:nvSpPr>
        <p:spPr>
          <a:xfrm>
            <a:off x="6629400" y="2743200"/>
            <a:ext cx="4663440" cy="457200"/>
          </a:xfrm>
          <a:prstGeom prst="rect">
            <a:avLst/>
          </a:prstGeom>
          <a:noFill/>
          <a:ln/>
        </p:spPr>
        <p:txBody>
          <a:bodyPr wrap="square" lIns="0" tIns="0" rIns="0" bIns="0" rtlCol="0" anchor="t"/>
          <a:lstStyle/>
          <a:p>
            <a:pPr marL="0" indent="0">
              <a:buNone/>
            </a:pPr>
            <a:r>
              <a:rPr lang="en-US" sz="2400" b="1" dirty="0">
                <a:solidFill>
                  <a:schemeClr val="tx1"/>
                </a:solidFill>
                <a:latin typeface="+mj-lt" pitchFamily="34" charset="0"/>
                <a:ea typeface="+mj-lt" pitchFamily="34" charset="-122"/>
                <a:cs typeface="+mj-lt" pitchFamily="34" charset="-120"/>
              </a:rPr>
              <a:t>A webcam is everywhere</a:t>
            </a:r>
            <a:endParaRPr lang="en-US" sz="2400" dirty="0"/>
          </a:p>
        </p:txBody>
      </p:sp>
      <p:sp>
        <p:nvSpPr>
          <p:cNvPr id="19" name="Text 13"/>
          <p:cNvSpPr txBox="1"/>
          <p:nvPr/>
        </p:nvSpPr>
        <p:spPr>
          <a:xfrm>
            <a:off x="6629400" y="3291840"/>
            <a:ext cx="4663440" cy="868680"/>
          </a:xfrm>
          <a:prstGeom prst="rect">
            <a:avLst/>
          </a:prstGeom>
          <a:noFill/>
          <a:ln/>
        </p:spPr>
        <p:txBody>
          <a:bodyPr wrap="square" lIns="0" tIns="0" rIns="0" bIns="0" rtlCol="0" anchor="t"/>
          <a:lstStyle/>
          <a:p>
            <a:pPr marL="0" indent="0">
              <a:buNone/>
            </a:pPr>
            <a:r>
              <a:rPr lang="en-US" sz="1600" dirty="0">
                <a:solidFill>
                  <a:schemeClr val="tx1"/>
                </a:solidFill>
              </a:rPr>
              <a:t>Remote photoplethysmography (rPPG) reads the pulse from ordinary face video. No contact, no extra hardware.</a:t>
            </a:r>
            <a:endParaRPr lang="en-US" sz="1600" dirty="0"/>
          </a:p>
        </p:txBody>
      </p:sp>
      <p:sp>
        <p:nvSpPr>
          <p:cNvPr id="20" name="Text 14"/>
          <p:cNvSpPr txBox="1"/>
          <p:nvPr/>
        </p:nvSpPr>
        <p:spPr>
          <a:xfrm>
            <a:off x="6629400" y="4343400"/>
            <a:ext cx="4663440" cy="320040"/>
          </a:xfrm>
          <a:prstGeom prst="rect">
            <a:avLst/>
          </a:prstGeom>
          <a:noFill/>
          <a:ln/>
        </p:spPr>
        <p:txBody>
          <a:bodyPr wrap="square" lIns="0" tIns="0" rIns="0" bIns="0" rtlCol="0" anchor="t"/>
          <a:lstStyle/>
          <a:p>
            <a:pPr marL="0" indent="0">
              <a:buNone/>
            </a:pPr>
            <a:r>
              <a:rPr lang="en-US" sz="1600" b="1" dirty="0">
                <a:solidFill>
                  <a:schemeClr val="accent1"/>
                </a:solidFill>
              </a:rPr>
              <a:t>The gap</a:t>
            </a:r>
            <a:endParaRPr lang="en-US" sz="1600" dirty="0"/>
          </a:p>
        </p:txBody>
      </p:sp>
      <p:sp>
        <p:nvSpPr>
          <p:cNvPr id="21" name="Text 15"/>
          <p:cNvSpPr txBox="1"/>
          <p:nvPr/>
        </p:nvSpPr>
        <p:spPr>
          <a:xfrm>
            <a:off x="6629400" y="4681728"/>
            <a:ext cx="4663440" cy="868680"/>
          </a:xfrm>
          <a:prstGeom prst="rect">
            <a:avLst/>
          </a:prstGeom>
          <a:noFill/>
          <a:ln/>
        </p:spPr>
        <p:txBody>
          <a:bodyPr wrap="square" lIns="0" tIns="0" rIns="0" bIns="0" rtlCol="0" anchor="t"/>
          <a:lstStyle/>
          <a:p>
            <a:pPr marL="0" indent="0">
              <a:buNone/>
            </a:pPr>
            <a:r>
              <a:rPr lang="en-US" sz="1600" dirty="0">
                <a:solidFill>
                  <a:schemeClr val="tx1"/>
                </a:solidFill>
              </a:rPr>
              <a:t>Public rPPG datasets are mostly lighter skin tones, so accuracy for Indian users is not well tested.</a:t>
            </a:r>
            <a:endParaRPr lang="en-US" sz="1600" dirty="0"/>
          </a:p>
        </p:txBody>
      </p:sp>
      <p:sp>
        <p:nvSpPr>
          <p:cNvPr id="25" name="Slide Number Placeholder 0"/>
          <p:cNvSpPr>
            <a:spLocks noGrp="1"/>
          </p:cNvSpPr>
          <p:nvPr>
            <p:ph type="sldNum" sz="quarter" idx="4294967295"/>
          </p:nvPr>
        </p:nvSpPr>
        <p:spPr>
          <a:xfrm>
            <a:off x="11091672" y="6336792"/>
            <a:ext cx="54864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a:spLocks noGrp="1"/>
          </p:cNvSpPr>
          <p:nvPr>
            <p:ph type="title" idx="103" hasCustomPrompt="1"/>
          </p:nvPr>
        </p:nvSpPr>
        <p:spPr>
          <a:xfrm>
            <a:off x="548640" y="384048"/>
            <a:ext cx="11091672" cy="731520"/>
          </a:xfrm>
          <a:prstGeom prst="rect">
            <a:avLst/>
          </a:prstGeom>
          <a:noFill/>
          <a:ln/>
        </p:spPr>
        <p:txBody>
          <a:bodyPr wrap="square" lIns="0" tIns="0" rIns="0" bIns="0" rtlCol="0" anchor="ctr"/>
          <a:lstStyle/>
          <a:p>
            <a:pPr marL="0" indent="0" algn="l">
              <a:buNone/>
            </a:pPr>
            <a:r>
              <a:rPr lang="en-US" sz="3600" b="1" dirty="0">
                <a:solidFill>
                  <a:schemeClr val="tx1"/>
                </a:solidFill>
              </a:rPr>
              <a:t>How a camera sees your pulse</a:t>
            </a:r>
            <a:endParaRPr lang="en-US" sz="3600" dirty="0"/>
          </a:p>
        </p:txBody>
      </p:sp>
      <p:sp>
        <p:nvSpPr>
          <p:cNvPr id="3" name="Shape 1"/>
          <p:cNvSpPr/>
          <p:nvPr/>
        </p:nvSpPr>
        <p:spPr>
          <a:xfrm>
            <a:off x="548640" y="1463040"/>
            <a:ext cx="658368" cy="658368"/>
          </a:xfrm>
          <a:prstGeom prst="ellipse">
            <a:avLst/>
          </a:prstGeom>
          <a:solidFill>
            <a:schemeClr val="accent3"/>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713232" y="1627632"/>
            <a:ext cx="329184" cy="329184"/>
          </a:xfrm>
          <a:prstGeom prst="rect">
            <a:avLst/>
          </a:prstGeom>
        </p:spPr>
      </p:pic>
      <p:sp>
        <p:nvSpPr>
          <p:cNvPr id="5" name="Text 2"/>
          <p:cNvSpPr txBox="1"/>
          <p:nvPr/>
        </p:nvSpPr>
        <p:spPr>
          <a:xfrm>
            <a:off x="548640" y="2240280"/>
            <a:ext cx="2468880" cy="365760"/>
          </a:xfrm>
          <a:prstGeom prst="rect">
            <a:avLst/>
          </a:prstGeom>
          <a:noFill/>
          <a:ln/>
        </p:spPr>
        <p:txBody>
          <a:bodyPr wrap="square" lIns="0" tIns="0" rIns="0" bIns="0" rtlCol="0" anchor="t"/>
          <a:lstStyle/>
          <a:p>
            <a:pPr marL="0" indent="0">
              <a:buNone/>
            </a:pPr>
            <a:r>
              <a:rPr lang="en-US" sz="1800" b="1" dirty="0">
                <a:solidFill>
                  <a:schemeClr val="tx1"/>
                </a:solidFill>
              </a:rPr>
              <a:t>Heart beats</a:t>
            </a:r>
            <a:endParaRPr lang="en-US" sz="1800" dirty="0"/>
          </a:p>
        </p:txBody>
      </p:sp>
      <p:sp>
        <p:nvSpPr>
          <p:cNvPr id="6" name="Text 3"/>
          <p:cNvSpPr txBox="1"/>
          <p:nvPr/>
        </p:nvSpPr>
        <p:spPr>
          <a:xfrm>
            <a:off x="548640" y="2633472"/>
            <a:ext cx="2377440" cy="685800"/>
          </a:xfrm>
          <a:prstGeom prst="rect">
            <a:avLst/>
          </a:prstGeom>
          <a:noFill/>
          <a:ln/>
        </p:spPr>
        <p:txBody>
          <a:bodyPr wrap="square" lIns="0" tIns="0" rIns="0" bIns="0" rtlCol="0" anchor="t"/>
          <a:lstStyle/>
          <a:p>
            <a:pPr marL="0" indent="0">
              <a:buNone/>
            </a:pPr>
            <a:r>
              <a:rPr lang="en-US" sz="1400" dirty="0">
                <a:solidFill>
                  <a:schemeClr val="tx2"/>
                </a:solidFill>
              </a:rPr>
              <a:t>Blood volume in the skin rises and falls</a:t>
            </a:r>
            <a:endParaRPr lang="en-US" sz="1400" dirty="0"/>
          </a:p>
        </p:txBody>
      </p:sp>
      <p:pic>
        <p:nvPicPr>
          <p:cNvPr id="7" name="Image 1" descr="preencoded.png"/>
          <p:cNvPicPr>
            <a:picLocks noChangeAspect="1"/>
          </p:cNvPicPr>
          <p:nvPr/>
        </p:nvPicPr>
        <p:blipFill>
          <a:blip r:embed="rId4"/>
          <a:stretch>
            <a:fillRect/>
          </a:stretch>
        </p:blipFill>
        <p:spPr>
          <a:xfrm>
            <a:off x="1554480" y="1645920"/>
            <a:ext cx="1371600" cy="292608"/>
          </a:xfrm>
          <a:prstGeom prst="rect">
            <a:avLst/>
          </a:prstGeom>
        </p:spPr>
      </p:pic>
      <p:sp>
        <p:nvSpPr>
          <p:cNvPr id="8" name="Shape 4"/>
          <p:cNvSpPr/>
          <p:nvPr/>
        </p:nvSpPr>
        <p:spPr>
          <a:xfrm>
            <a:off x="3383280" y="1463040"/>
            <a:ext cx="658368" cy="658368"/>
          </a:xfrm>
          <a:prstGeom prst="ellipse">
            <a:avLst/>
          </a:prstGeom>
          <a:solidFill>
            <a:schemeClr val="accent3"/>
          </a:solidFill>
          <a:ln/>
        </p:spPr>
        <p:txBody>
          <a:bodyPr/>
          <a:lstStyle/>
          <a:p>
            <a:endParaRPr lang="en-US"/>
          </a:p>
        </p:txBody>
      </p:sp>
      <p:pic>
        <p:nvPicPr>
          <p:cNvPr id="9" name="Image 2" descr="preencoded.png"/>
          <p:cNvPicPr>
            <a:picLocks noChangeAspect="1"/>
          </p:cNvPicPr>
          <p:nvPr/>
        </p:nvPicPr>
        <p:blipFill>
          <a:blip r:embed="rId5"/>
          <a:stretch>
            <a:fillRect/>
          </a:stretch>
        </p:blipFill>
        <p:spPr>
          <a:xfrm>
            <a:off x="3547872" y="1627632"/>
            <a:ext cx="329184" cy="329184"/>
          </a:xfrm>
          <a:prstGeom prst="rect">
            <a:avLst/>
          </a:prstGeom>
        </p:spPr>
      </p:pic>
      <p:sp>
        <p:nvSpPr>
          <p:cNvPr id="10" name="Text 5"/>
          <p:cNvSpPr txBox="1"/>
          <p:nvPr/>
        </p:nvSpPr>
        <p:spPr>
          <a:xfrm>
            <a:off x="3383280" y="2240280"/>
            <a:ext cx="2468880" cy="365760"/>
          </a:xfrm>
          <a:prstGeom prst="rect">
            <a:avLst/>
          </a:prstGeom>
          <a:noFill/>
          <a:ln/>
        </p:spPr>
        <p:txBody>
          <a:bodyPr wrap="square" lIns="0" tIns="0" rIns="0" bIns="0" rtlCol="0" anchor="t"/>
          <a:lstStyle/>
          <a:p>
            <a:pPr marL="0" indent="0">
              <a:buNone/>
            </a:pPr>
            <a:r>
              <a:rPr lang="en-US" sz="1800" b="1" dirty="0">
                <a:solidFill>
                  <a:schemeClr val="tx1"/>
                </a:solidFill>
              </a:rPr>
              <a:t>Skin colour shifts</a:t>
            </a:r>
            <a:endParaRPr lang="en-US" sz="1800" dirty="0"/>
          </a:p>
        </p:txBody>
      </p:sp>
      <p:sp>
        <p:nvSpPr>
          <p:cNvPr id="11" name="Text 6"/>
          <p:cNvSpPr txBox="1"/>
          <p:nvPr/>
        </p:nvSpPr>
        <p:spPr>
          <a:xfrm>
            <a:off x="3383280" y="2633472"/>
            <a:ext cx="2377440" cy="685800"/>
          </a:xfrm>
          <a:prstGeom prst="rect">
            <a:avLst/>
          </a:prstGeom>
          <a:noFill/>
          <a:ln/>
        </p:spPr>
        <p:txBody>
          <a:bodyPr wrap="square" lIns="0" tIns="0" rIns="0" bIns="0" rtlCol="0" anchor="t"/>
          <a:lstStyle/>
          <a:p>
            <a:pPr marL="0" indent="0">
              <a:buNone/>
            </a:pPr>
            <a:r>
              <a:rPr lang="en-US" sz="1400" dirty="0">
                <a:solidFill>
                  <a:schemeClr val="tx2"/>
                </a:solidFill>
              </a:rPr>
              <a:t>A tiny change in absorbed light, invisible to the eye</a:t>
            </a:r>
            <a:endParaRPr lang="en-US" sz="1400" dirty="0"/>
          </a:p>
        </p:txBody>
      </p:sp>
      <p:pic>
        <p:nvPicPr>
          <p:cNvPr id="12" name="Image 3" descr="preencoded.png"/>
          <p:cNvPicPr>
            <a:picLocks noChangeAspect="1"/>
          </p:cNvPicPr>
          <p:nvPr/>
        </p:nvPicPr>
        <p:blipFill>
          <a:blip r:embed="rId4"/>
          <a:stretch>
            <a:fillRect/>
          </a:stretch>
        </p:blipFill>
        <p:spPr>
          <a:xfrm>
            <a:off x="4389120" y="1645920"/>
            <a:ext cx="1371600" cy="292608"/>
          </a:xfrm>
          <a:prstGeom prst="rect">
            <a:avLst/>
          </a:prstGeom>
        </p:spPr>
      </p:pic>
      <p:sp>
        <p:nvSpPr>
          <p:cNvPr id="13" name="Shape 7"/>
          <p:cNvSpPr/>
          <p:nvPr/>
        </p:nvSpPr>
        <p:spPr>
          <a:xfrm>
            <a:off x="6217920" y="1463040"/>
            <a:ext cx="658368" cy="658368"/>
          </a:xfrm>
          <a:prstGeom prst="ellipse">
            <a:avLst/>
          </a:prstGeom>
          <a:solidFill>
            <a:schemeClr val="accent3"/>
          </a:solidFill>
          <a:ln/>
        </p:spPr>
        <p:txBody>
          <a:bodyPr/>
          <a:lstStyle/>
          <a:p>
            <a:endParaRPr lang="en-US"/>
          </a:p>
        </p:txBody>
      </p:sp>
      <p:pic>
        <p:nvPicPr>
          <p:cNvPr id="14" name="Image 4" descr="preencoded.png"/>
          <p:cNvPicPr>
            <a:picLocks noChangeAspect="1"/>
          </p:cNvPicPr>
          <p:nvPr/>
        </p:nvPicPr>
        <p:blipFill>
          <a:blip r:embed="rId6"/>
          <a:stretch>
            <a:fillRect/>
          </a:stretch>
        </p:blipFill>
        <p:spPr>
          <a:xfrm>
            <a:off x="6382512" y="1627632"/>
            <a:ext cx="329184" cy="329184"/>
          </a:xfrm>
          <a:prstGeom prst="rect">
            <a:avLst/>
          </a:prstGeom>
        </p:spPr>
      </p:pic>
      <p:sp>
        <p:nvSpPr>
          <p:cNvPr id="15" name="Text 8"/>
          <p:cNvSpPr txBox="1"/>
          <p:nvPr/>
        </p:nvSpPr>
        <p:spPr>
          <a:xfrm>
            <a:off x="6217920" y="2240280"/>
            <a:ext cx="2468880" cy="365760"/>
          </a:xfrm>
          <a:prstGeom prst="rect">
            <a:avLst/>
          </a:prstGeom>
          <a:noFill/>
          <a:ln/>
        </p:spPr>
        <p:txBody>
          <a:bodyPr wrap="square" lIns="0" tIns="0" rIns="0" bIns="0" rtlCol="0" anchor="t"/>
          <a:lstStyle/>
          <a:p>
            <a:pPr marL="0" indent="0">
              <a:buNone/>
            </a:pPr>
            <a:r>
              <a:rPr lang="en-US" sz="1800" b="1" dirty="0">
                <a:solidFill>
                  <a:schemeClr val="tx1"/>
                </a:solidFill>
              </a:rPr>
              <a:t>Camera records</a:t>
            </a:r>
            <a:endParaRPr lang="en-US" sz="1800" dirty="0"/>
          </a:p>
        </p:txBody>
      </p:sp>
      <p:sp>
        <p:nvSpPr>
          <p:cNvPr id="16" name="Text 9"/>
          <p:cNvSpPr txBox="1"/>
          <p:nvPr/>
        </p:nvSpPr>
        <p:spPr>
          <a:xfrm>
            <a:off x="6217920" y="2633472"/>
            <a:ext cx="2377440" cy="685800"/>
          </a:xfrm>
          <a:prstGeom prst="rect">
            <a:avLst/>
          </a:prstGeom>
          <a:noFill/>
          <a:ln/>
        </p:spPr>
        <p:txBody>
          <a:bodyPr wrap="square" lIns="0" tIns="0" rIns="0" bIns="0" rtlCol="0" anchor="t"/>
          <a:lstStyle/>
          <a:p>
            <a:pPr marL="0" indent="0">
              <a:buNone/>
            </a:pPr>
            <a:r>
              <a:rPr lang="en-US" sz="1400" dirty="0">
                <a:solidFill>
                  <a:schemeClr val="tx2"/>
                </a:solidFill>
              </a:rPr>
              <a:t>30 frames per second capture the change</a:t>
            </a:r>
            <a:endParaRPr lang="en-US" sz="1400" dirty="0"/>
          </a:p>
        </p:txBody>
      </p:sp>
      <p:pic>
        <p:nvPicPr>
          <p:cNvPr id="17" name="Image 5" descr="preencoded.png"/>
          <p:cNvPicPr>
            <a:picLocks noChangeAspect="1"/>
          </p:cNvPicPr>
          <p:nvPr/>
        </p:nvPicPr>
        <p:blipFill>
          <a:blip r:embed="rId4"/>
          <a:stretch>
            <a:fillRect/>
          </a:stretch>
        </p:blipFill>
        <p:spPr>
          <a:xfrm>
            <a:off x="7223760" y="1645920"/>
            <a:ext cx="1371600" cy="292608"/>
          </a:xfrm>
          <a:prstGeom prst="rect">
            <a:avLst/>
          </a:prstGeom>
        </p:spPr>
      </p:pic>
      <p:sp>
        <p:nvSpPr>
          <p:cNvPr id="18" name="Shape 10"/>
          <p:cNvSpPr/>
          <p:nvPr/>
        </p:nvSpPr>
        <p:spPr>
          <a:xfrm>
            <a:off x="9052560" y="1463040"/>
            <a:ext cx="658368" cy="658368"/>
          </a:xfrm>
          <a:prstGeom prst="ellipse">
            <a:avLst/>
          </a:prstGeom>
          <a:solidFill>
            <a:schemeClr val="accent3"/>
          </a:solidFill>
          <a:ln/>
        </p:spPr>
        <p:txBody>
          <a:bodyPr/>
          <a:lstStyle/>
          <a:p>
            <a:endParaRPr lang="en-US"/>
          </a:p>
        </p:txBody>
      </p:sp>
      <p:pic>
        <p:nvPicPr>
          <p:cNvPr id="19" name="Image 6" descr="preencoded.png"/>
          <p:cNvPicPr>
            <a:picLocks noChangeAspect="1"/>
          </p:cNvPicPr>
          <p:nvPr/>
        </p:nvPicPr>
        <p:blipFill>
          <a:blip r:embed="rId7"/>
          <a:stretch>
            <a:fillRect/>
          </a:stretch>
        </p:blipFill>
        <p:spPr>
          <a:xfrm>
            <a:off x="9217152" y="1627632"/>
            <a:ext cx="329184" cy="329184"/>
          </a:xfrm>
          <a:prstGeom prst="rect">
            <a:avLst/>
          </a:prstGeom>
        </p:spPr>
      </p:pic>
      <p:sp>
        <p:nvSpPr>
          <p:cNvPr id="20" name="Text 11"/>
          <p:cNvSpPr txBox="1"/>
          <p:nvPr/>
        </p:nvSpPr>
        <p:spPr>
          <a:xfrm>
            <a:off x="9052560" y="2240280"/>
            <a:ext cx="2468880" cy="365760"/>
          </a:xfrm>
          <a:prstGeom prst="rect">
            <a:avLst/>
          </a:prstGeom>
          <a:noFill/>
          <a:ln/>
        </p:spPr>
        <p:txBody>
          <a:bodyPr wrap="square" lIns="0" tIns="0" rIns="0" bIns="0" rtlCol="0" anchor="t"/>
          <a:lstStyle/>
          <a:p>
            <a:pPr marL="0" indent="0">
              <a:buNone/>
            </a:pPr>
            <a:r>
              <a:rPr lang="en-US" sz="1800" b="1" dirty="0">
                <a:solidFill>
                  <a:schemeClr val="tx1"/>
                </a:solidFill>
              </a:rPr>
              <a:t>Signal to rate</a:t>
            </a:r>
            <a:endParaRPr lang="en-US" sz="1800" dirty="0"/>
          </a:p>
        </p:txBody>
      </p:sp>
      <p:sp>
        <p:nvSpPr>
          <p:cNvPr id="21" name="Text 12"/>
          <p:cNvSpPr txBox="1"/>
          <p:nvPr/>
        </p:nvSpPr>
        <p:spPr>
          <a:xfrm>
            <a:off x="9052560" y="2633472"/>
            <a:ext cx="2377440" cy="685800"/>
          </a:xfrm>
          <a:prstGeom prst="rect">
            <a:avLst/>
          </a:prstGeom>
          <a:noFill/>
          <a:ln/>
        </p:spPr>
        <p:txBody>
          <a:bodyPr wrap="square" lIns="0" tIns="0" rIns="0" bIns="0" rtlCol="0" anchor="t"/>
          <a:lstStyle/>
          <a:p>
            <a:pPr marL="0" indent="0">
              <a:buNone/>
            </a:pPr>
            <a:r>
              <a:rPr lang="en-US" sz="1400" dirty="0">
                <a:solidFill>
                  <a:schemeClr val="tx2"/>
                </a:solidFill>
              </a:rPr>
              <a:t>Find the strongest beat frequency</a:t>
            </a:r>
            <a:endParaRPr lang="en-US" sz="1400" dirty="0"/>
          </a:p>
        </p:txBody>
      </p:sp>
      <p:pic>
        <p:nvPicPr>
          <p:cNvPr id="22" name="Pulse waveform screenshot" descr="C:\Users\ASUS\AppData\Local\Temp\claude\D--PulseCam\15b79863-0d9b-43e5-86fa-f970749171f7\scratchpad\deck\img\wave.png"/>
          <p:cNvPicPr>
            <a:picLocks noChangeAspect="1"/>
          </p:cNvPicPr>
          <p:nvPr/>
        </p:nvPicPr>
        <p:blipFill>
          <a:blip r:embed="rId8"/>
          <a:stretch>
            <a:fillRect/>
          </a:stretch>
        </p:blipFill>
        <p:spPr>
          <a:xfrm>
            <a:off x="548640" y="3611880"/>
            <a:ext cx="4343400" cy="2521169"/>
          </a:xfrm>
          <a:prstGeom prst="rect">
            <a:avLst/>
          </a:prstGeom>
          <a:effectLst>
            <a:outerShdw blurRad="203200" dist="63500" dir="5400000" algn="bl" rotWithShape="0">
              <a:srgbClr val="1D3557">
                <a:alpha val="16000"/>
              </a:srgbClr>
            </a:outerShdw>
          </a:effectLst>
        </p:spPr>
      </p:pic>
      <p:sp>
        <p:nvSpPr>
          <p:cNvPr id="23" name="Formula card"/>
          <p:cNvSpPr/>
          <p:nvPr/>
        </p:nvSpPr>
        <p:spPr>
          <a:xfrm>
            <a:off x="5349240" y="3611880"/>
            <a:ext cx="6291072" cy="2523744"/>
          </a:xfrm>
          <a:prstGeom prst="roundRect">
            <a:avLst>
              <a:gd name="adj" fmla="val 6522"/>
            </a:avLst>
          </a:prstGeom>
          <a:solidFill>
            <a:schemeClr val="bg2"/>
          </a:solidFill>
          <a:ln/>
        </p:spPr>
        <p:txBody>
          <a:bodyPr/>
          <a:lstStyle/>
          <a:p>
            <a:endParaRPr lang="en-US"/>
          </a:p>
        </p:txBody>
      </p:sp>
      <p:sp>
        <p:nvSpPr>
          <p:cNvPr id="24" name="Text 14"/>
          <p:cNvSpPr txBox="1"/>
          <p:nvPr/>
        </p:nvSpPr>
        <p:spPr>
          <a:xfrm>
            <a:off x="5715000" y="3886200"/>
            <a:ext cx="5577840" cy="731520"/>
          </a:xfrm>
          <a:prstGeom prst="rect">
            <a:avLst/>
          </a:prstGeom>
          <a:noFill/>
          <a:ln/>
        </p:spPr>
        <p:txBody>
          <a:bodyPr wrap="square" lIns="0" tIns="0" rIns="0" bIns="0" rtlCol="0" anchor="t"/>
          <a:lstStyle/>
          <a:p>
            <a:pPr marL="0" indent="0">
              <a:buNone/>
            </a:pPr>
            <a:r>
              <a:rPr lang="en-US" sz="4400" b="1" dirty="0">
                <a:solidFill>
                  <a:schemeClr val="accent1"/>
                </a:solidFill>
                <a:latin typeface="+mj-lt" pitchFamily="34" charset="0"/>
                <a:ea typeface="+mj-lt" pitchFamily="34" charset="-122"/>
                <a:cs typeface="+mj-lt" pitchFamily="34" charset="-120"/>
              </a:rPr>
              <a:t>HR = 60 × f</a:t>
            </a:r>
            <a:endParaRPr lang="en-US" sz="4400" dirty="0"/>
          </a:p>
        </p:txBody>
      </p:sp>
      <p:sp>
        <p:nvSpPr>
          <p:cNvPr id="25" name="Text 15"/>
          <p:cNvSpPr txBox="1"/>
          <p:nvPr/>
        </p:nvSpPr>
        <p:spPr>
          <a:xfrm>
            <a:off x="5715000" y="4681728"/>
            <a:ext cx="5577840" cy="411480"/>
          </a:xfrm>
          <a:prstGeom prst="rect">
            <a:avLst/>
          </a:prstGeom>
          <a:noFill/>
          <a:ln/>
        </p:spPr>
        <p:txBody>
          <a:bodyPr wrap="square" lIns="0" tIns="0" rIns="0" bIns="0" rtlCol="0" anchor="t"/>
          <a:lstStyle/>
          <a:p>
            <a:pPr marL="0" indent="0">
              <a:buNone/>
            </a:pPr>
            <a:r>
              <a:rPr lang="en-US" sz="1800" b="1" dirty="0">
                <a:solidFill>
                  <a:schemeClr val="tx1"/>
                </a:solidFill>
              </a:rPr>
              <a:t>A 1.2 Hz peak means 72 beats per minute</a:t>
            </a:r>
            <a:endParaRPr lang="en-US" sz="1800" dirty="0"/>
          </a:p>
        </p:txBody>
      </p:sp>
      <p:sp>
        <p:nvSpPr>
          <p:cNvPr id="26" name="Text 16"/>
          <p:cNvSpPr txBox="1"/>
          <p:nvPr/>
        </p:nvSpPr>
        <p:spPr>
          <a:xfrm>
            <a:off x="5715000" y="5138928"/>
            <a:ext cx="5577840" cy="731520"/>
          </a:xfrm>
          <a:prstGeom prst="rect">
            <a:avLst/>
          </a:prstGeom>
          <a:noFill/>
          <a:ln/>
        </p:spPr>
        <p:txBody>
          <a:bodyPr wrap="square" lIns="0" tIns="0" rIns="0" bIns="0" rtlCol="0" anchor="t"/>
          <a:lstStyle/>
          <a:p>
            <a:pPr marL="0" indent="0">
              <a:buNone/>
            </a:pPr>
            <a:r>
              <a:rPr lang="en-US" sz="1500" dirty="0">
                <a:solidFill>
                  <a:schemeClr val="tx2"/>
                </a:solidFill>
              </a:rPr>
              <a:t>The FFT finds the strongest frequency between 0.7 and 3.0 Hz, which is 42 to 180 beats per minute.</a:t>
            </a:r>
            <a:endParaRPr lang="en-US" sz="1500" dirty="0"/>
          </a:p>
        </p:txBody>
      </p:sp>
      <p:sp>
        <p:nvSpPr>
          <p:cNvPr id="27" name="Slide Number Placeholder 0"/>
          <p:cNvSpPr>
            <a:spLocks noGrp="1"/>
          </p:cNvSpPr>
          <p:nvPr>
            <p:ph type="sldNum" sz="quarter" idx="4294967295"/>
          </p:nvPr>
        </p:nvSpPr>
        <p:spPr>
          <a:xfrm>
            <a:off x="11091672" y="6336792"/>
            <a:ext cx="54864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a:spLocks noGrp="1"/>
          </p:cNvSpPr>
          <p:nvPr>
            <p:ph type="title" idx="103" hasCustomPrompt="1"/>
          </p:nvPr>
        </p:nvSpPr>
        <p:spPr>
          <a:xfrm>
            <a:off x="548640" y="384048"/>
            <a:ext cx="11091672" cy="731520"/>
          </a:xfrm>
          <a:prstGeom prst="rect">
            <a:avLst/>
          </a:prstGeom>
          <a:noFill/>
          <a:ln/>
        </p:spPr>
        <p:txBody>
          <a:bodyPr wrap="square" lIns="0" tIns="0" rIns="0" bIns="0" rtlCol="0" anchor="ctr"/>
          <a:lstStyle/>
          <a:p>
            <a:pPr marL="0" indent="0" algn="l">
              <a:buNone/>
            </a:pPr>
            <a:r>
              <a:rPr lang="en-US" sz="3600" b="1" dirty="0">
                <a:solidFill>
                  <a:schemeClr val="tx1"/>
                </a:solidFill>
              </a:rPr>
              <a:t>Four research questions</a:t>
            </a:r>
            <a:endParaRPr lang="en-US" sz="3600" dirty="0"/>
          </a:p>
        </p:txBody>
      </p:sp>
      <p:sp>
        <p:nvSpPr>
          <p:cNvPr id="3" name="Text 1"/>
          <p:cNvSpPr txBox="1"/>
          <p:nvPr/>
        </p:nvSpPr>
        <p:spPr>
          <a:xfrm>
            <a:off x="548640" y="1280160"/>
            <a:ext cx="11064240" cy="365760"/>
          </a:xfrm>
          <a:prstGeom prst="rect">
            <a:avLst/>
          </a:prstGeom>
          <a:noFill/>
          <a:ln/>
        </p:spPr>
        <p:txBody>
          <a:bodyPr wrap="square" lIns="0" tIns="0" rIns="0" bIns="0" rtlCol="0" anchor="t"/>
          <a:lstStyle/>
          <a:p>
            <a:pPr marL="0" indent="0">
              <a:buNone/>
            </a:pPr>
            <a:r>
              <a:rPr lang="en-US" sz="1700" dirty="0">
                <a:solidFill>
                  <a:schemeClr val="tx2"/>
                </a:solidFill>
              </a:rPr>
              <a:t>Build a working video-to-BPM pipeline and live demo, and answer:</a:t>
            </a:r>
            <a:endParaRPr lang="en-US" sz="1700" dirty="0"/>
          </a:p>
        </p:txBody>
      </p:sp>
      <p:sp>
        <p:nvSpPr>
          <p:cNvPr id="4" name="RQ1 card"/>
          <p:cNvSpPr/>
          <p:nvPr/>
        </p:nvSpPr>
        <p:spPr>
          <a:xfrm>
            <a:off x="548640" y="1828800"/>
            <a:ext cx="5449824" cy="2011680"/>
          </a:xfrm>
          <a:prstGeom prst="roundRect">
            <a:avLst>
              <a:gd name="adj" fmla="val 8182"/>
            </a:avLst>
          </a:prstGeom>
          <a:solidFill>
            <a:schemeClr val="bg2"/>
          </a:solidFill>
          <a:ln/>
        </p:spPr>
        <p:txBody>
          <a:bodyPr/>
          <a:lstStyle/>
          <a:p>
            <a:endParaRPr lang="en-US"/>
          </a:p>
        </p:txBody>
      </p:sp>
      <p:sp>
        <p:nvSpPr>
          <p:cNvPr id="5" name="Text 3"/>
          <p:cNvSpPr txBox="1"/>
          <p:nvPr/>
        </p:nvSpPr>
        <p:spPr>
          <a:xfrm>
            <a:off x="868680" y="2103120"/>
            <a:ext cx="1828800" cy="320040"/>
          </a:xfrm>
          <a:prstGeom prst="rect">
            <a:avLst/>
          </a:prstGeom>
          <a:noFill/>
          <a:ln/>
        </p:spPr>
        <p:txBody>
          <a:bodyPr wrap="square" lIns="0" tIns="0" rIns="0" bIns="0" rtlCol="0" anchor="t"/>
          <a:lstStyle/>
          <a:p>
            <a:pPr marL="0" indent="0">
              <a:buNone/>
            </a:pPr>
            <a:r>
              <a:rPr lang="en-US" sz="1500" b="1" dirty="0">
                <a:solidFill>
                  <a:schemeClr val="accent1"/>
                </a:solidFill>
              </a:rPr>
              <a:t>RQ1</a:t>
            </a:r>
            <a:endParaRPr lang="en-US" sz="1500" dirty="0"/>
          </a:p>
        </p:txBody>
      </p:sp>
      <p:sp>
        <p:nvSpPr>
          <p:cNvPr id="6" name="Text 4"/>
          <p:cNvSpPr txBox="1"/>
          <p:nvPr/>
        </p:nvSpPr>
        <p:spPr>
          <a:xfrm>
            <a:off x="868680" y="2450592"/>
            <a:ext cx="4800600" cy="777240"/>
          </a:xfrm>
          <a:prstGeom prst="rect">
            <a:avLst/>
          </a:prstGeom>
          <a:noFill/>
          <a:ln/>
        </p:spPr>
        <p:txBody>
          <a:bodyPr wrap="square" lIns="0" tIns="0" rIns="0" bIns="0" rtlCol="0" anchor="t"/>
          <a:lstStyle/>
          <a:p>
            <a:pPr marL="0" indent="0">
              <a:buNone/>
            </a:pPr>
            <a:r>
              <a:rPr lang="en-US" sz="1900" b="1" dirty="0">
                <a:solidFill>
                  <a:schemeClr val="tx1"/>
                </a:solidFill>
              </a:rPr>
              <a:t>Do deep models beat classical methods on UBFC-rPPG?</a:t>
            </a:r>
            <a:endParaRPr lang="en-US" sz="1900" dirty="0"/>
          </a:p>
        </p:txBody>
      </p:sp>
      <p:pic>
        <p:nvPicPr>
          <p:cNvPr id="7" name="Image 0" descr="preencoded.png"/>
          <p:cNvPicPr>
            <a:picLocks noChangeAspect="1"/>
          </p:cNvPicPr>
          <p:nvPr/>
        </p:nvPicPr>
        <p:blipFill>
          <a:blip r:embed="rId3"/>
          <a:stretch>
            <a:fillRect/>
          </a:stretch>
        </p:blipFill>
        <p:spPr>
          <a:xfrm>
            <a:off x="868680" y="3346704"/>
            <a:ext cx="237744" cy="237744"/>
          </a:xfrm>
          <a:prstGeom prst="rect">
            <a:avLst/>
          </a:prstGeom>
        </p:spPr>
      </p:pic>
      <p:sp>
        <p:nvSpPr>
          <p:cNvPr id="8" name="Text 5"/>
          <p:cNvSpPr txBox="1"/>
          <p:nvPr/>
        </p:nvSpPr>
        <p:spPr>
          <a:xfrm>
            <a:off x="1207008" y="3319272"/>
            <a:ext cx="4480560" cy="292608"/>
          </a:xfrm>
          <a:prstGeom prst="rect">
            <a:avLst/>
          </a:prstGeom>
          <a:noFill/>
          <a:ln/>
        </p:spPr>
        <p:txBody>
          <a:bodyPr wrap="square" lIns="0" tIns="0" rIns="0" bIns="0" rtlCol="0" anchor="t"/>
          <a:lstStyle/>
          <a:p>
            <a:pPr marL="0" indent="0">
              <a:buNone/>
            </a:pPr>
            <a:r>
              <a:rPr lang="en-US" sz="1400" b="1" dirty="0">
                <a:solidFill>
                  <a:schemeClr val="accent5"/>
                </a:solidFill>
              </a:rPr>
              <a:t>Answered by E1</a:t>
            </a:r>
            <a:endParaRPr lang="en-US" sz="1400" dirty="0"/>
          </a:p>
        </p:txBody>
      </p:sp>
      <p:sp>
        <p:nvSpPr>
          <p:cNvPr id="9" name="RQ2 card"/>
          <p:cNvSpPr/>
          <p:nvPr/>
        </p:nvSpPr>
        <p:spPr>
          <a:xfrm>
            <a:off x="6190488" y="1828800"/>
            <a:ext cx="5449824" cy="2011680"/>
          </a:xfrm>
          <a:prstGeom prst="roundRect">
            <a:avLst>
              <a:gd name="adj" fmla="val 8182"/>
            </a:avLst>
          </a:prstGeom>
          <a:solidFill>
            <a:schemeClr val="bg2"/>
          </a:solidFill>
          <a:ln/>
        </p:spPr>
        <p:txBody>
          <a:bodyPr/>
          <a:lstStyle/>
          <a:p>
            <a:endParaRPr lang="en-US"/>
          </a:p>
        </p:txBody>
      </p:sp>
      <p:sp>
        <p:nvSpPr>
          <p:cNvPr id="10" name="Text 7"/>
          <p:cNvSpPr txBox="1"/>
          <p:nvPr/>
        </p:nvSpPr>
        <p:spPr>
          <a:xfrm>
            <a:off x="6510528" y="2103120"/>
            <a:ext cx="1828800" cy="320040"/>
          </a:xfrm>
          <a:prstGeom prst="rect">
            <a:avLst/>
          </a:prstGeom>
          <a:noFill/>
          <a:ln/>
        </p:spPr>
        <p:txBody>
          <a:bodyPr wrap="square" lIns="0" tIns="0" rIns="0" bIns="0" rtlCol="0" anchor="t"/>
          <a:lstStyle/>
          <a:p>
            <a:pPr marL="0" indent="0">
              <a:buNone/>
            </a:pPr>
            <a:r>
              <a:rPr lang="en-US" sz="1500" b="1" dirty="0">
                <a:solidFill>
                  <a:schemeClr val="accent1"/>
                </a:solidFill>
              </a:rPr>
              <a:t>RQ2</a:t>
            </a:r>
            <a:endParaRPr lang="en-US" sz="1500" dirty="0"/>
          </a:p>
        </p:txBody>
      </p:sp>
      <p:sp>
        <p:nvSpPr>
          <p:cNvPr id="11" name="Text 8"/>
          <p:cNvSpPr txBox="1"/>
          <p:nvPr/>
        </p:nvSpPr>
        <p:spPr>
          <a:xfrm>
            <a:off x="6510528" y="2450592"/>
            <a:ext cx="4800600" cy="777240"/>
          </a:xfrm>
          <a:prstGeom prst="rect">
            <a:avLst/>
          </a:prstGeom>
          <a:noFill/>
          <a:ln/>
        </p:spPr>
        <p:txBody>
          <a:bodyPr wrap="square" lIns="0" tIns="0" rIns="0" bIns="0" rtlCol="0" anchor="t"/>
          <a:lstStyle/>
          <a:p>
            <a:pPr marL="0" indent="0">
              <a:buNone/>
            </a:pPr>
            <a:r>
              <a:rPr lang="en-US" sz="1900" b="1" dirty="0">
                <a:solidFill>
                  <a:schemeClr val="tx1"/>
                </a:solidFill>
              </a:rPr>
              <a:t>How much accuracy is lost when training on a different dataset?</a:t>
            </a:r>
            <a:endParaRPr lang="en-US" sz="1900" dirty="0"/>
          </a:p>
        </p:txBody>
      </p:sp>
      <p:pic>
        <p:nvPicPr>
          <p:cNvPr id="12" name="Image 1" descr="preencoded.png"/>
          <p:cNvPicPr>
            <a:picLocks noChangeAspect="1"/>
          </p:cNvPicPr>
          <p:nvPr/>
        </p:nvPicPr>
        <p:blipFill>
          <a:blip r:embed="rId3"/>
          <a:stretch>
            <a:fillRect/>
          </a:stretch>
        </p:blipFill>
        <p:spPr>
          <a:xfrm>
            <a:off x="6510528" y="3346704"/>
            <a:ext cx="237744" cy="237744"/>
          </a:xfrm>
          <a:prstGeom prst="rect">
            <a:avLst/>
          </a:prstGeom>
        </p:spPr>
      </p:pic>
      <p:sp>
        <p:nvSpPr>
          <p:cNvPr id="13" name="Text 9"/>
          <p:cNvSpPr txBox="1"/>
          <p:nvPr/>
        </p:nvSpPr>
        <p:spPr>
          <a:xfrm>
            <a:off x="6848856" y="3319272"/>
            <a:ext cx="4480560" cy="292608"/>
          </a:xfrm>
          <a:prstGeom prst="rect">
            <a:avLst/>
          </a:prstGeom>
          <a:noFill/>
          <a:ln/>
        </p:spPr>
        <p:txBody>
          <a:bodyPr wrap="square" lIns="0" tIns="0" rIns="0" bIns="0" rtlCol="0" anchor="t"/>
          <a:lstStyle/>
          <a:p>
            <a:pPr marL="0" indent="0">
              <a:buNone/>
            </a:pPr>
            <a:r>
              <a:rPr lang="en-US" sz="1400" b="1" dirty="0">
                <a:solidFill>
                  <a:schemeClr val="accent5"/>
                </a:solidFill>
              </a:rPr>
              <a:t>Answered by E2</a:t>
            </a:r>
            <a:endParaRPr lang="en-US" sz="1400" dirty="0"/>
          </a:p>
        </p:txBody>
      </p:sp>
      <p:sp>
        <p:nvSpPr>
          <p:cNvPr id="14" name="RQ3 card"/>
          <p:cNvSpPr/>
          <p:nvPr/>
        </p:nvSpPr>
        <p:spPr>
          <a:xfrm>
            <a:off x="548640" y="4023360"/>
            <a:ext cx="5449824" cy="2011680"/>
          </a:xfrm>
          <a:prstGeom prst="roundRect">
            <a:avLst>
              <a:gd name="adj" fmla="val 8182"/>
            </a:avLst>
          </a:prstGeom>
          <a:solidFill>
            <a:schemeClr val="bg2"/>
          </a:solidFill>
          <a:ln/>
        </p:spPr>
        <p:txBody>
          <a:bodyPr/>
          <a:lstStyle/>
          <a:p>
            <a:endParaRPr lang="en-US"/>
          </a:p>
        </p:txBody>
      </p:sp>
      <p:sp>
        <p:nvSpPr>
          <p:cNvPr id="15" name="Text 11"/>
          <p:cNvSpPr txBox="1"/>
          <p:nvPr/>
        </p:nvSpPr>
        <p:spPr>
          <a:xfrm>
            <a:off x="868680" y="4297680"/>
            <a:ext cx="1828800" cy="320040"/>
          </a:xfrm>
          <a:prstGeom prst="rect">
            <a:avLst/>
          </a:prstGeom>
          <a:noFill/>
          <a:ln/>
        </p:spPr>
        <p:txBody>
          <a:bodyPr wrap="square" lIns="0" tIns="0" rIns="0" bIns="0" rtlCol="0" anchor="t"/>
          <a:lstStyle/>
          <a:p>
            <a:pPr marL="0" indent="0">
              <a:buNone/>
            </a:pPr>
            <a:r>
              <a:rPr lang="en-US" sz="1500" b="1" dirty="0">
                <a:solidFill>
                  <a:schemeClr val="accent1"/>
                </a:solidFill>
              </a:rPr>
              <a:t>RQ3</a:t>
            </a:r>
            <a:endParaRPr lang="en-US" sz="1500" dirty="0"/>
          </a:p>
        </p:txBody>
      </p:sp>
      <p:sp>
        <p:nvSpPr>
          <p:cNvPr id="16" name="Text 12"/>
          <p:cNvSpPr txBox="1"/>
          <p:nvPr/>
        </p:nvSpPr>
        <p:spPr>
          <a:xfrm>
            <a:off x="868680" y="4645152"/>
            <a:ext cx="4800600" cy="777240"/>
          </a:xfrm>
          <a:prstGeom prst="rect">
            <a:avLst/>
          </a:prstGeom>
          <a:noFill/>
          <a:ln/>
        </p:spPr>
        <p:txBody>
          <a:bodyPr wrap="square" lIns="0" tIns="0" rIns="0" bIns="0" rtlCol="0" anchor="t"/>
          <a:lstStyle/>
          <a:p>
            <a:pPr marL="0" indent="0">
              <a:buNone/>
            </a:pPr>
            <a:r>
              <a:rPr lang="en-US" sz="1900" b="1" dirty="0">
                <a:solidFill>
                  <a:schemeClr val="tx1"/>
                </a:solidFill>
              </a:rPr>
              <a:t>Is accuracy lower for Indian skin tones, and does fine-tuning help?</a:t>
            </a:r>
            <a:endParaRPr lang="en-US" sz="1900" dirty="0"/>
          </a:p>
        </p:txBody>
      </p:sp>
      <p:pic>
        <p:nvPicPr>
          <p:cNvPr id="17" name="Image 2" descr="preencoded.png"/>
          <p:cNvPicPr>
            <a:picLocks noChangeAspect="1"/>
          </p:cNvPicPr>
          <p:nvPr/>
        </p:nvPicPr>
        <p:blipFill>
          <a:blip r:embed="rId4"/>
          <a:stretch>
            <a:fillRect/>
          </a:stretch>
        </p:blipFill>
        <p:spPr>
          <a:xfrm>
            <a:off x="868680" y="5541264"/>
            <a:ext cx="237744" cy="237744"/>
          </a:xfrm>
          <a:prstGeom prst="rect">
            <a:avLst/>
          </a:prstGeom>
        </p:spPr>
      </p:pic>
      <p:sp>
        <p:nvSpPr>
          <p:cNvPr id="18" name="Text 13"/>
          <p:cNvSpPr txBox="1"/>
          <p:nvPr/>
        </p:nvSpPr>
        <p:spPr>
          <a:xfrm>
            <a:off x="1207008" y="5513832"/>
            <a:ext cx="4480560" cy="292608"/>
          </a:xfrm>
          <a:prstGeom prst="rect">
            <a:avLst/>
          </a:prstGeom>
          <a:noFill/>
          <a:ln/>
        </p:spPr>
        <p:txBody>
          <a:bodyPr wrap="square" lIns="0" tIns="0" rIns="0" bIns="0" rtlCol="0" anchor="t"/>
          <a:lstStyle/>
          <a:p>
            <a:pPr marL="0" indent="0">
              <a:buNone/>
            </a:pPr>
            <a:r>
              <a:rPr lang="en-US" sz="1400" b="1" dirty="0">
                <a:solidFill>
                  <a:schemeClr val="accent6"/>
                </a:solidFill>
              </a:rPr>
              <a:t>Open: needs volunteer recordings (E4)</a:t>
            </a:r>
            <a:endParaRPr lang="en-US" sz="1400" dirty="0"/>
          </a:p>
        </p:txBody>
      </p:sp>
      <p:sp>
        <p:nvSpPr>
          <p:cNvPr id="19" name="RQ4 card"/>
          <p:cNvSpPr/>
          <p:nvPr/>
        </p:nvSpPr>
        <p:spPr>
          <a:xfrm>
            <a:off x="6190488" y="4023360"/>
            <a:ext cx="5449824" cy="2011680"/>
          </a:xfrm>
          <a:prstGeom prst="roundRect">
            <a:avLst>
              <a:gd name="adj" fmla="val 8182"/>
            </a:avLst>
          </a:prstGeom>
          <a:solidFill>
            <a:schemeClr val="bg2"/>
          </a:solidFill>
          <a:ln/>
        </p:spPr>
        <p:txBody>
          <a:bodyPr/>
          <a:lstStyle/>
          <a:p>
            <a:endParaRPr lang="en-US"/>
          </a:p>
        </p:txBody>
      </p:sp>
      <p:sp>
        <p:nvSpPr>
          <p:cNvPr id="20" name="Text 15"/>
          <p:cNvSpPr txBox="1"/>
          <p:nvPr/>
        </p:nvSpPr>
        <p:spPr>
          <a:xfrm>
            <a:off x="6510528" y="4297680"/>
            <a:ext cx="1828800" cy="320040"/>
          </a:xfrm>
          <a:prstGeom prst="rect">
            <a:avLst/>
          </a:prstGeom>
          <a:noFill/>
          <a:ln/>
        </p:spPr>
        <p:txBody>
          <a:bodyPr wrap="square" lIns="0" tIns="0" rIns="0" bIns="0" rtlCol="0" anchor="t"/>
          <a:lstStyle/>
          <a:p>
            <a:pPr marL="0" indent="0">
              <a:buNone/>
            </a:pPr>
            <a:r>
              <a:rPr lang="en-US" sz="1500" b="1" dirty="0">
                <a:solidFill>
                  <a:schemeClr val="accent1"/>
                </a:solidFill>
              </a:rPr>
              <a:t>RQ4</a:t>
            </a:r>
            <a:endParaRPr lang="en-US" sz="1500" dirty="0"/>
          </a:p>
        </p:txBody>
      </p:sp>
      <p:sp>
        <p:nvSpPr>
          <p:cNvPr id="21" name="Text 16"/>
          <p:cNvSpPr txBox="1"/>
          <p:nvPr/>
        </p:nvSpPr>
        <p:spPr>
          <a:xfrm>
            <a:off x="6510528" y="4645152"/>
            <a:ext cx="4800600" cy="777240"/>
          </a:xfrm>
          <a:prstGeom prst="rect">
            <a:avLst/>
          </a:prstGeom>
          <a:noFill/>
          <a:ln/>
        </p:spPr>
        <p:txBody>
          <a:bodyPr wrap="square" lIns="0" tIns="0" rIns="0" bIns="0" rtlCol="0" anchor="t"/>
          <a:lstStyle/>
          <a:p>
            <a:pPr marL="0" indent="0">
              <a:buNone/>
            </a:pPr>
            <a:r>
              <a:rPr lang="en-US" sz="1900" b="1" dirty="0">
                <a:solidFill>
                  <a:schemeClr val="tx1"/>
                </a:solidFill>
              </a:rPr>
              <a:t>Which hurts most: movement, talking or dim light?</a:t>
            </a:r>
            <a:endParaRPr lang="en-US" sz="1900" dirty="0"/>
          </a:p>
        </p:txBody>
      </p:sp>
      <p:pic>
        <p:nvPicPr>
          <p:cNvPr id="22" name="Image 3" descr="preencoded.png"/>
          <p:cNvPicPr>
            <a:picLocks noChangeAspect="1"/>
          </p:cNvPicPr>
          <p:nvPr/>
        </p:nvPicPr>
        <p:blipFill>
          <a:blip r:embed="rId4"/>
          <a:stretch>
            <a:fillRect/>
          </a:stretch>
        </p:blipFill>
        <p:spPr>
          <a:xfrm>
            <a:off x="6510528" y="5541264"/>
            <a:ext cx="237744" cy="237744"/>
          </a:xfrm>
          <a:prstGeom prst="rect">
            <a:avLst/>
          </a:prstGeom>
        </p:spPr>
      </p:pic>
      <p:sp>
        <p:nvSpPr>
          <p:cNvPr id="23" name="Text 17"/>
          <p:cNvSpPr txBox="1"/>
          <p:nvPr/>
        </p:nvSpPr>
        <p:spPr>
          <a:xfrm>
            <a:off x="6848856" y="5513832"/>
            <a:ext cx="4480560" cy="292608"/>
          </a:xfrm>
          <a:prstGeom prst="rect">
            <a:avLst/>
          </a:prstGeom>
          <a:noFill/>
          <a:ln/>
        </p:spPr>
        <p:txBody>
          <a:bodyPr wrap="square" lIns="0" tIns="0" rIns="0" bIns="0" rtlCol="0" anchor="t"/>
          <a:lstStyle/>
          <a:p>
            <a:pPr marL="0" indent="0">
              <a:buNone/>
            </a:pPr>
            <a:r>
              <a:rPr lang="en-US" sz="1400" b="1" dirty="0">
                <a:solidFill>
                  <a:schemeClr val="accent6"/>
                </a:solidFill>
              </a:rPr>
              <a:t>Open: needs volunteer recordings (E3)</a:t>
            </a:r>
            <a:endParaRPr lang="en-US" sz="1400" dirty="0"/>
          </a:p>
        </p:txBody>
      </p:sp>
      <p:sp>
        <p:nvSpPr>
          <p:cNvPr id="25" name="Slide Number Placeholder 0"/>
          <p:cNvSpPr>
            <a:spLocks noGrp="1"/>
          </p:cNvSpPr>
          <p:nvPr>
            <p:ph type="sldNum" sz="quarter" idx="4294967295"/>
          </p:nvPr>
        </p:nvSpPr>
        <p:spPr>
          <a:xfrm>
            <a:off x="11091672" y="6336792"/>
            <a:ext cx="54864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a:spLocks noGrp="1"/>
          </p:cNvSpPr>
          <p:nvPr>
            <p:ph type="title" idx="103" hasCustomPrompt="1"/>
          </p:nvPr>
        </p:nvSpPr>
        <p:spPr>
          <a:xfrm>
            <a:off x="548640" y="384048"/>
            <a:ext cx="11091672" cy="731520"/>
          </a:xfrm>
          <a:prstGeom prst="rect">
            <a:avLst/>
          </a:prstGeom>
          <a:noFill/>
          <a:ln/>
        </p:spPr>
        <p:txBody>
          <a:bodyPr wrap="square" lIns="0" tIns="0" rIns="0" bIns="0" rtlCol="0" anchor="ctr"/>
          <a:lstStyle/>
          <a:p>
            <a:pPr marL="0" indent="0" algn="l">
              <a:buNone/>
            </a:pPr>
            <a:r>
              <a:rPr lang="en-US" sz="3600" b="1" dirty="0">
                <a:solidFill>
                  <a:schemeClr val="tx1"/>
                </a:solidFill>
              </a:rPr>
              <a:t>From video to beats per minute</a:t>
            </a:r>
            <a:endParaRPr lang="en-US" sz="3600" dirty="0"/>
          </a:p>
        </p:txBody>
      </p:sp>
      <p:sp>
        <p:nvSpPr>
          <p:cNvPr id="3" name="Shape 1"/>
          <p:cNvSpPr/>
          <p:nvPr/>
        </p:nvSpPr>
        <p:spPr>
          <a:xfrm>
            <a:off x="822960" y="1929384"/>
            <a:ext cx="10515600" cy="0"/>
          </a:xfrm>
          <a:prstGeom prst="line">
            <a:avLst/>
          </a:prstGeom>
          <a:noFill/>
          <a:ln w="25400">
            <a:solidFill>
              <a:schemeClr val="accent3"/>
            </a:solidFill>
            <a:prstDash val="solid"/>
          </a:ln>
        </p:spPr>
        <p:txBody>
          <a:bodyPr/>
          <a:lstStyle/>
          <a:p>
            <a:endParaRPr lang="en-US"/>
          </a:p>
        </p:txBody>
      </p:sp>
      <p:sp>
        <p:nvSpPr>
          <p:cNvPr id="4" name="Step 1"/>
          <p:cNvSpPr/>
          <p:nvPr/>
        </p:nvSpPr>
        <p:spPr>
          <a:xfrm>
            <a:off x="548640" y="1417320"/>
            <a:ext cx="1682496" cy="2514600"/>
          </a:xfrm>
          <a:prstGeom prst="roundRect">
            <a:avLst>
              <a:gd name="adj" fmla="val 9783"/>
            </a:avLst>
          </a:prstGeom>
          <a:solidFill>
            <a:schemeClr val="bg2"/>
          </a:solidFill>
          <a:ln/>
        </p:spPr>
        <p:txBody>
          <a:bodyPr/>
          <a:lstStyle/>
          <a:p>
            <a:endParaRPr lang="en-US"/>
          </a:p>
        </p:txBody>
      </p:sp>
      <p:sp>
        <p:nvSpPr>
          <p:cNvPr id="5" name="Shape 3"/>
          <p:cNvSpPr/>
          <p:nvPr/>
        </p:nvSpPr>
        <p:spPr>
          <a:xfrm>
            <a:off x="1097280" y="1645920"/>
            <a:ext cx="585216" cy="585216"/>
          </a:xfrm>
          <a:prstGeom prst="ellipse">
            <a:avLst/>
          </a:prstGeom>
          <a:solidFill>
            <a:schemeClr val="accent3"/>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243584" y="1792224"/>
            <a:ext cx="292608" cy="292608"/>
          </a:xfrm>
          <a:prstGeom prst="rect">
            <a:avLst/>
          </a:prstGeom>
        </p:spPr>
      </p:pic>
      <p:sp>
        <p:nvSpPr>
          <p:cNvPr id="7" name="Text 4"/>
          <p:cNvSpPr txBox="1"/>
          <p:nvPr/>
        </p:nvSpPr>
        <p:spPr>
          <a:xfrm>
            <a:off x="713232" y="2377440"/>
            <a:ext cx="1371600" cy="347472"/>
          </a:xfrm>
          <a:prstGeom prst="rect">
            <a:avLst/>
          </a:prstGeom>
          <a:noFill/>
          <a:ln/>
        </p:spPr>
        <p:txBody>
          <a:bodyPr wrap="square" lIns="0" tIns="0" rIns="0" bIns="0" rtlCol="0" anchor="t"/>
          <a:lstStyle/>
          <a:p>
            <a:pPr marL="0" indent="0" algn="ctr">
              <a:buNone/>
            </a:pPr>
            <a:r>
              <a:rPr lang="en-US" sz="1600" b="1" dirty="0">
                <a:solidFill>
                  <a:schemeClr val="tx1"/>
                </a:solidFill>
              </a:rPr>
              <a:t>1. Video</a:t>
            </a:r>
            <a:endParaRPr lang="en-US" sz="1600" dirty="0"/>
          </a:p>
        </p:txBody>
      </p:sp>
      <p:sp>
        <p:nvSpPr>
          <p:cNvPr id="8" name="Text 5"/>
          <p:cNvSpPr txBox="1"/>
          <p:nvPr/>
        </p:nvSpPr>
        <p:spPr>
          <a:xfrm>
            <a:off x="685800" y="2743200"/>
            <a:ext cx="1408176" cy="1051560"/>
          </a:xfrm>
          <a:prstGeom prst="rect">
            <a:avLst/>
          </a:prstGeom>
          <a:noFill/>
          <a:ln/>
        </p:spPr>
        <p:txBody>
          <a:bodyPr wrap="square" lIns="0" tIns="0" rIns="0" bIns="0" rtlCol="0" anchor="t"/>
          <a:lstStyle/>
          <a:p>
            <a:pPr marL="0" indent="0" algn="ctr">
              <a:buNone/>
            </a:pPr>
            <a:r>
              <a:rPr lang="en-US" sz="1400" dirty="0">
                <a:solidFill>
                  <a:schemeClr val="tx2"/>
                </a:solidFill>
              </a:rPr>
              <a:t>30 fps webcam or a recorded file</a:t>
            </a:r>
            <a:endParaRPr lang="en-US" sz="1400" dirty="0"/>
          </a:p>
        </p:txBody>
      </p:sp>
      <p:sp>
        <p:nvSpPr>
          <p:cNvPr id="9" name="Step 2"/>
          <p:cNvSpPr/>
          <p:nvPr/>
        </p:nvSpPr>
        <p:spPr>
          <a:xfrm>
            <a:off x="2432304" y="1417320"/>
            <a:ext cx="1682496" cy="2514600"/>
          </a:xfrm>
          <a:prstGeom prst="roundRect">
            <a:avLst>
              <a:gd name="adj" fmla="val 9783"/>
            </a:avLst>
          </a:prstGeom>
          <a:solidFill>
            <a:schemeClr val="bg2"/>
          </a:solidFill>
          <a:ln/>
        </p:spPr>
        <p:txBody>
          <a:bodyPr/>
          <a:lstStyle/>
          <a:p>
            <a:endParaRPr lang="en-US"/>
          </a:p>
        </p:txBody>
      </p:sp>
      <p:sp>
        <p:nvSpPr>
          <p:cNvPr id="10" name="Shape 7"/>
          <p:cNvSpPr/>
          <p:nvPr/>
        </p:nvSpPr>
        <p:spPr>
          <a:xfrm>
            <a:off x="2980944" y="1645920"/>
            <a:ext cx="585216" cy="585216"/>
          </a:xfrm>
          <a:prstGeom prst="ellipse">
            <a:avLst/>
          </a:prstGeom>
          <a:solidFill>
            <a:schemeClr val="accent3"/>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3127248" y="1792224"/>
            <a:ext cx="292608" cy="292608"/>
          </a:xfrm>
          <a:prstGeom prst="rect">
            <a:avLst/>
          </a:prstGeom>
        </p:spPr>
      </p:pic>
      <p:sp>
        <p:nvSpPr>
          <p:cNvPr id="12" name="Text 8"/>
          <p:cNvSpPr txBox="1"/>
          <p:nvPr/>
        </p:nvSpPr>
        <p:spPr>
          <a:xfrm>
            <a:off x="2596896" y="2377440"/>
            <a:ext cx="1371600" cy="347472"/>
          </a:xfrm>
          <a:prstGeom prst="rect">
            <a:avLst/>
          </a:prstGeom>
          <a:noFill/>
          <a:ln/>
        </p:spPr>
        <p:txBody>
          <a:bodyPr wrap="square" lIns="0" tIns="0" rIns="0" bIns="0" rtlCol="0" anchor="t"/>
          <a:lstStyle/>
          <a:p>
            <a:pPr marL="0" indent="0" algn="ctr">
              <a:buNone/>
            </a:pPr>
            <a:r>
              <a:rPr lang="en-US" sz="1600" b="1" dirty="0">
                <a:solidFill>
                  <a:schemeClr val="tx1"/>
                </a:solidFill>
              </a:rPr>
              <a:t>2. Face &amp; skin</a:t>
            </a:r>
            <a:endParaRPr lang="en-US" sz="1600" dirty="0"/>
          </a:p>
        </p:txBody>
      </p:sp>
      <p:sp>
        <p:nvSpPr>
          <p:cNvPr id="13" name="Text 9"/>
          <p:cNvSpPr txBox="1"/>
          <p:nvPr/>
        </p:nvSpPr>
        <p:spPr>
          <a:xfrm>
            <a:off x="2569464" y="2743200"/>
            <a:ext cx="1408176" cy="1051560"/>
          </a:xfrm>
          <a:prstGeom prst="rect">
            <a:avLst/>
          </a:prstGeom>
          <a:noFill/>
          <a:ln/>
        </p:spPr>
        <p:txBody>
          <a:bodyPr wrap="square" lIns="0" tIns="0" rIns="0" bIns="0" rtlCol="0" anchor="t"/>
          <a:lstStyle/>
          <a:p>
            <a:pPr marL="0" indent="0" algn="ctr">
              <a:buNone/>
            </a:pPr>
            <a:r>
              <a:rPr lang="en-US" sz="1400" dirty="0">
                <a:solidFill>
                  <a:schemeClr val="tx2"/>
                </a:solidFill>
              </a:rPr>
              <a:t>MediaPipe face box, forehead and cheeks</a:t>
            </a:r>
            <a:endParaRPr lang="en-US" sz="1400" dirty="0"/>
          </a:p>
        </p:txBody>
      </p:sp>
      <p:sp>
        <p:nvSpPr>
          <p:cNvPr id="14" name="Step 3"/>
          <p:cNvSpPr/>
          <p:nvPr/>
        </p:nvSpPr>
        <p:spPr>
          <a:xfrm>
            <a:off x="4315968" y="1417320"/>
            <a:ext cx="1682496" cy="2514600"/>
          </a:xfrm>
          <a:prstGeom prst="roundRect">
            <a:avLst>
              <a:gd name="adj" fmla="val 9783"/>
            </a:avLst>
          </a:prstGeom>
          <a:solidFill>
            <a:schemeClr val="bg2"/>
          </a:solidFill>
          <a:ln/>
        </p:spPr>
        <p:txBody>
          <a:bodyPr/>
          <a:lstStyle/>
          <a:p>
            <a:endParaRPr lang="en-US"/>
          </a:p>
        </p:txBody>
      </p:sp>
      <p:sp>
        <p:nvSpPr>
          <p:cNvPr id="15" name="Shape 11"/>
          <p:cNvSpPr/>
          <p:nvPr/>
        </p:nvSpPr>
        <p:spPr>
          <a:xfrm>
            <a:off x="4864608" y="1645920"/>
            <a:ext cx="585216" cy="585216"/>
          </a:xfrm>
          <a:prstGeom prst="ellipse">
            <a:avLst/>
          </a:prstGeom>
          <a:solidFill>
            <a:schemeClr val="accent3"/>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5010912" y="1792224"/>
            <a:ext cx="292608" cy="292608"/>
          </a:xfrm>
          <a:prstGeom prst="rect">
            <a:avLst/>
          </a:prstGeom>
        </p:spPr>
      </p:pic>
      <p:sp>
        <p:nvSpPr>
          <p:cNvPr id="17" name="Text 12"/>
          <p:cNvSpPr txBox="1"/>
          <p:nvPr/>
        </p:nvSpPr>
        <p:spPr>
          <a:xfrm>
            <a:off x="4480560" y="2377440"/>
            <a:ext cx="1371600" cy="347472"/>
          </a:xfrm>
          <a:prstGeom prst="rect">
            <a:avLst/>
          </a:prstGeom>
          <a:noFill/>
          <a:ln/>
        </p:spPr>
        <p:txBody>
          <a:bodyPr wrap="square" lIns="0" tIns="0" rIns="0" bIns="0" rtlCol="0" anchor="t"/>
          <a:lstStyle/>
          <a:p>
            <a:pPr marL="0" indent="0" algn="ctr">
              <a:buNone/>
            </a:pPr>
            <a:r>
              <a:rPr lang="en-US" sz="1600" b="1" dirty="0">
                <a:solidFill>
                  <a:schemeClr val="tx1"/>
                </a:solidFill>
              </a:rPr>
              <a:t>3. Crop</a:t>
            </a:r>
            <a:endParaRPr lang="en-US" sz="1600" dirty="0"/>
          </a:p>
        </p:txBody>
      </p:sp>
      <p:sp>
        <p:nvSpPr>
          <p:cNvPr id="18" name="Text 13"/>
          <p:cNvSpPr txBox="1"/>
          <p:nvPr/>
        </p:nvSpPr>
        <p:spPr>
          <a:xfrm>
            <a:off x="4453128" y="2743200"/>
            <a:ext cx="1408176" cy="1051560"/>
          </a:xfrm>
          <a:prstGeom prst="rect">
            <a:avLst/>
          </a:prstGeom>
          <a:noFill/>
          <a:ln/>
        </p:spPr>
        <p:txBody>
          <a:bodyPr wrap="square" lIns="0" tIns="0" rIns="0" bIns="0" rtlCol="0" anchor="t"/>
          <a:lstStyle/>
          <a:p>
            <a:pPr marL="0" indent="0" algn="ctr">
              <a:buNone/>
            </a:pPr>
            <a:r>
              <a:rPr lang="en-US" sz="1400" dirty="0">
                <a:solidFill>
                  <a:schemeClr val="tx2"/>
                </a:solidFill>
              </a:rPr>
              <a:t>72 × 72 face crop, normalised</a:t>
            </a:r>
            <a:endParaRPr lang="en-US" sz="1400" dirty="0"/>
          </a:p>
        </p:txBody>
      </p:sp>
      <p:sp>
        <p:nvSpPr>
          <p:cNvPr id="19" name="Step 4"/>
          <p:cNvSpPr/>
          <p:nvPr/>
        </p:nvSpPr>
        <p:spPr>
          <a:xfrm>
            <a:off x="6199632" y="1417320"/>
            <a:ext cx="1682496" cy="2514600"/>
          </a:xfrm>
          <a:prstGeom prst="roundRect">
            <a:avLst>
              <a:gd name="adj" fmla="val 9783"/>
            </a:avLst>
          </a:prstGeom>
          <a:solidFill>
            <a:schemeClr val="bg2"/>
          </a:solidFill>
          <a:ln/>
        </p:spPr>
        <p:txBody>
          <a:bodyPr/>
          <a:lstStyle/>
          <a:p>
            <a:endParaRPr lang="en-US"/>
          </a:p>
        </p:txBody>
      </p:sp>
      <p:sp>
        <p:nvSpPr>
          <p:cNvPr id="20" name="Shape 15"/>
          <p:cNvSpPr/>
          <p:nvPr/>
        </p:nvSpPr>
        <p:spPr>
          <a:xfrm>
            <a:off x="6748272" y="1645920"/>
            <a:ext cx="585216" cy="585216"/>
          </a:xfrm>
          <a:prstGeom prst="ellipse">
            <a:avLst/>
          </a:prstGeom>
          <a:solidFill>
            <a:schemeClr val="accent3"/>
          </a:solidFill>
          <a:ln/>
        </p:spPr>
        <p:txBody>
          <a:bodyPr/>
          <a:lstStyle/>
          <a:p>
            <a:endParaRPr lang="en-US"/>
          </a:p>
        </p:txBody>
      </p:sp>
      <p:pic>
        <p:nvPicPr>
          <p:cNvPr id="21" name="Image 3" descr="preencoded.png"/>
          <p:cNvPicPr>
            <a:picLocks noChangeAspect="1"/>
          </p:cNvPicPr>
          <p:nvPr/>
        </p:nvPicPr>
        <p:blipFill>
          <a:blip r:embed="rId6"/>
          <a:stretch>
            <a:fillRect/>
          </a:stretch>
        </p:blipFill>
        <p:spPr>
          <a:xfrm>
            <a:off x="6894576" y="1792224"/>
            <a:ext cx="292608" cy="292608"/>
          </a:xfrm>
          <a:prstGeom prst="rect">
            <a:avLst/>
          </a:prstGeom>
        </p:spPr>
      </p:pic>
      <p:sp>
        <p:nvSpPr>
          <p:cNvPr id="22" name="Text 16"/>
          <p:cNvSpPr txBox="1"/>
          <p:nvPr/>
        </p:nvSpPr>
        <p:spPr>
          <a:xfrm>
            <a:off x="6364224" y="2377440"/>
            <a:ext cx="1371600" cy="347472"/>
          </a:xfrm>
          <a:prstGeom prst="rect">
            <a:avLst/>
          </a:prstGeom>
          <a:noFill/>
          <a:ln/>
        </p:spPr>
        <p:txBody>
          <a:bodyPr wrap="square" lIns="0" tIns="0" rIns="0" bIns="0" rtlCol="0" anchor="t"/>
          <a:lstStyle/>
          <a:p>
            <a:pPr marL="0" indent="0" algn="ctr">
              <a:buNone/>
            </a:pPr>
            <a:r>
              <a:rPr lang="en-US" sz="1600" b="1" dirty="0">
                <a:solidFill>
                  <a:schemeClr val="tx1"/>
                </a:solidFill>
              </a:rPr>
              <a:t>4. Model</a:t>
            </a:r>
            <a:endParaRPr lang="en-US" sz="1600" dirty="0"/>
          </a:p>
        </p:txBody>
      </p:sp>
      <p:sp>
        <p:nvSpPr>
          <p:cNvPr id="23" name="Text 17"/>
          <p:cNvSpPr txBox="1"/>
          <p:nvPr/>
        </p:nvSpPr>
        <p:spPr>
          <a:xfrm>
            <a:off x="6336792" y="2743200"/>
            <a:ext cx="1408176" cy="1051560"/>
          </a:xfrm>
          <a:prstGeom prst="rect">
            <a:avLst/>
          </a:prstGeom>
          <a:noFill/>
          <a:ln/>
        </p:spPr>
        <p:txBody>
          <a:bodyPr wrap="square" lIns="0" tIns="0" rIns="0" bIns="0" rtlCol="0" anchor="t"/>
          <a:lstStyle/>
          <a:p>
            <a:pPr marL="0" indent="0" algn="ctr">
              <a:buNone/>
            </a:pPr>
            <a:r>
              <a:rPr lang="en-US" sz="1400" dirty="0">
                <a:solidFill>
                  <a:schemeClr val="tx2"/>
                </a:solidFill>
              </a:rPr>
              <a:t>POS (classical) or TS-CAN (deep)</a:t>
            </a:r>
            <a:endParaRPr lang="en-US" sz="1400" dirty="0"/>
          </a:p>
        </p:txBody>
      </p:sp>
      <p:sp>
        <p:nvSpPr>
          <p:cNvPr id="24" name="Step 5"/>
          <p:cNvSpPr/>
          <p:nvPr/>
        </p:nvSpPr>
        <p:spPr>
          <a:xfrm>
            <a:off x="8083296" y="1417320"/>
            <a:ext cx="1682496" cy="2514600"/>
          </a:xfrm>
          <a:prstGeom prst="roundRect">
            <a:avLst>
              <a:gd name="adj" fmla="val 9783"/>
            </a:avLst>
          </a:prstGeom>
          <a:solidFill>
            <a:schemeClr val="bg2"/>
          </a:solidFill>
          <a:ln/>
        </p:spPr>
        <p:txBody>
          <a:bodyPr/>
          <a:lstStyle/>
          <a:p>
            <a:endParaRPr lang="en-US"/>
          </a:p>
        </p:txBody>
      </p:sp>
      <p:sp>
        <p:nvSpPr>
          <p:cNvPr id="25" name="Shape 19"/>
          <p:cNvSpPr/>
          <p:nvPr/>
        </p:nvSpPr>
        <p:spPr>
          <a:xfrm>
            <a:off x="8631936" y="1645920"/>
            <a:ext cx="585216" cy="585216"/>
          </a:xfrm>
          <a:prstGeom prst="ellipse">
            <a:avLst/>
          </a:prstGeom>
          <a:solidFill>
            <a:schemeClr val="accent3"/>
          </a:solidFill>
          <a:ln/>
        </p:spPr>
        <p:txBody>
          <a:bodyPr/>
          <a:lstStyle/>
          <a:p>
            <a:endParaRPr lang="en-US"/>
          </a:p>
        </p:txBody>
      </p:sp>
      <p:pic>
        <p:nvPicPr>
          <p:cNvPr id="26" name="Image 4" descr="preencoded.png"/>
          <p:cNvPicPr>
            <a:picLocks noChangeAspect="1"/>
          </p:cNvPicPr>
          <p:nvPr/>
        </p:nvPicPr>
        <p:blipFill>
          <a:blip r:embed="rId7"/>
          <a:stretch>
            <a:fillRect/>
          </a:stretch>
        </p:blipFill>
        <p:spPr>
          <a:xfrm>
            <a:off x="8778240" y="1792224"/>
            <a:ext cx="292608" cy="292608"/>
          </a:xfrm>
          <a:prstGeom prst="rect">
            <a:avLst/>
          </a:prstGeom>
        </p:spPr>
      </p:pic>
      <p:sp>
        <p:nvSpPr>
          <p:cNvPr id="27" name="Text 20"/>
          <p:cNvSpPr txBox="1"/>
          <p:nvPr/>
        </p:nvSpPr>
        <p:spPr>
          <a:xfrm>
            <a:off x="8247888" y="2377440"/>
            <a:ext cx="1371600" cy="347472"/>
          </a:xfrm>
          <a:prstGeom prst="rect">
            <a:avLst/>
          </a:prstGeom>
          <a:noFill/>
          <a:ln/>
        </p:spPr>
        <p:txBody>
          <a:bodyPr wrap="square" lIns="0" tIns="0" rIns="0" bIns="0" rtlCol="0" anchor="t"/>
          <a:lstStyle/>
          <a:p>
            <a:pPr marL="0" indent="0" algn="ctr">
              <a:buNone/>
            </a:pPr>
            <a:r>
              <a:rPr lang="en-US" sz="1600" b="1" dirty="0">
                <a:solidFill>
                  <a:schemeClr val="tx1"/>
                </a:solidFill>
              </a:rPr>
              <a:t>5. Band-pass</a:t>
            </a:r>
            <a:endParaRPr lang="en-US" sz="1600" dirty="0"/>
          </a:p>
        </p:txBody>
      </p:sp>
      <p:sp>
        <p:nvSpPr>
          <p:cNvPr id="28" name="Text 21"/>
          <p:cNvSpPr txBox="1"/>
          <p:nvPr/>
        </p:nvSpPr>
        <p:spPr>
          <a:xfrm>
            <a:off x="8220456" y="2743200"/>
            <a:ext cx="1408176" cy="1051560"/>
          </a:xfrm>
          <a:prstGeom prst="rect">
            <a:avLst/>
          </a:prstGeom>
          <a:noFill/>
          <a:ln/>
        </p:spPr>
        <p:txBody>
          <a:bodyPr wrap="square" lIns="0" tIns="0" rIns="0" bIns="0" rtlCol="0" anchor="t"/>
          <a:lstStyle/>
          <a:p>
            <a:pPr marL="0" indent="0" algn="ctr">
              <a:buNone/>
            </a:pPr>
            <a:r>
              <a:rPr lang="en-US" sz="1400" dirty="0">
                <a:solidFill>
                  <a:schemeClr val="tx2"/>
                </a:solidFill>
              </a:rPr>
              <a:t>Keep 0.7 to 3.0 Hz</a:t>
            </a:r>
            <a:endParaRPr lang="en-US" sz="1400" dirty="0"/>
          </a:p>
        </p:txBody>
      </p:sp>
      <p:sp>
        <p:nvSpPr>
          <p:cNvPr id="29" name="Step 6"/>
          <p:cNvSpPr/>
          <p:nvPr/>
        </p:nvSpPr>
        <p:spPr>
          <a:xfrm>
            <a:off x="9966960" y="1417320"/>
            <a:ext cx="1682496" cy="2514600"/>
          </a:xfrm>
          <a:prstGeom prst="roundRect">
            <a:avLst>
              <a:gd name="adj" fmla="val 9783"/>
            </a:avLst>
          </a:prstGeom>
          <a:solidFill>
            <a:schemeClr val="bg2"/>
          </a:solidFill>
          <a:ln/>
        </p:spPr>
        <p:txBody>
          <a:bodyPr/>
          <a:lstStyle/>
          <a:p>
            <a:endParaRPr lang="en-US"/>
          </a:p>
        </p:txBody>
      </p:sp>
      <p:sp>
        <p:nvSpPr>
          <p:cNvPr id="30" name="Shape 23"/>
          <p:cNvSpPr/>
          <p:nvPr/>
        </p:nvSpPr>
        <p:spPr>
          <a:xfrm>
            <a:off x="10515600" y="1645920"/>
            <a:ext cx="585216" cy="585216"/>
          </a:xfrm>
          <a:prstGeom prst="ellipse">
            <a:avLst/>
          </a:prstGeom>
          <a:solidFill>
            <a:schemeClr val="accent3"/>
          </a:solidFill>
          <a:ln/>
        </p:spPr>
        <p:txBody>
          <a:bodyPr/>
          <a:lstStyle/>
          <a:p>
            <a:endParaRPr lang="en-US"/>
          </a:p>
        </p:txBody>
      </p:sp>
      <p:pic>
        <p:nvPicPr>
          <p:cNvPr id="31" name="Image 5" descr="preencoded.png"/>
          <p:cNvPicPr>
            <a:picLocks noChangeAspect="1"/>
          </p:cNvPicPr>
          <p:nvPr/>
        </p:nvPicPr>
        <p:blipFill>
          <a:blip r:embed="rId8"/>
          <a:stretch>
            <a:fillRect/>
          </a:stretch>
        </p:blipFill>
        <p:spPr>
          <a:xfrm>
            <a:off x="10661904" y="1792224"/>
            <a:ext cx="292608" cy="292608"/>
          </a:xfrm>
          <a:prstGeom prst="rect">
            <a:avLst/>
          </a:prstGeom>
        </p:spPr>
      </p:pic>
      <p:sp>
        <p:nvSpPr>
          <p:cNvPr id="32" name="Text 24"/>
          <p:cNvSpPr txBox="1"/>
          <p:nvPr/>
        </p:nvSpPr>
        <p:spPr>
          <a:xfrm>
            <a:off x="10131552" y="2377440"/>
            <a:ext cx="1371600" cy="347472"/>
          </a:xfrm>
          <a:prstGeom prst="rect">
            <a:avLst/>
          </a:prstGeom>
          <a:noFill/>
          <a:ln/>
        </p:spPr>
        <p:txBody>
          <a:bodyPr wrap="square" lIns="0" tIns="0" rIns="0" bIns="0" rtlCol="0" anchor="t"/>
          <a:lstStyle/>
          <a:p>
            <a:pPr marL="0" indent="0" algn="ctr">
              <a:buNone/>
            </a:pPr>
            <a:r>
              <a:rPr lang="en-US" sz="1600" b="1" dirty="0">
                <a:solidFill>
                  <a:schemeClr val="tx1"/>
                </a:solidFill>
              </a:rPr>
              <a:t>6. FFT peak</a:t>
            </a:r>
            <a:endParaRPr lang="en-US" sz="1600" dirty="0"/>
          </a:p>
        </p:txBody>
      </p:sp>
      <p:sp>
        <p:nvSpPr>
          <p:cNvPr id="33" name="Text 25"/>
          <p:cNvSpPr txBox="1"/>
          <p:nvPr/>
        </p:nvSpPr>
        <p:spPr>
          <a:xfrm>
            <a:off x="10104120" y="2743200"/>
            <a:ext cx="1408176" cy="1051560"/>
          </a:xfrm>
          <a:prstGeom prst="rect">
            <a:avLst/>
          </a:prstGeom>
          <a:noFill/>
          <a:ln/>
        </p:spPr>
        <p:txBody>
          <a:bodyPr wrap="square" lIns="0" tIns="0" rIns="0" bIns="0" rtlCol="0" anchor="t"/>
          <a:lstStyle/>
          <a:p>
            <a:pPr marL="0" indent="0" algn="ctr">
              <a:buNone/>
            </a:pPr>
            <a:r>
              <a:rPr lang="en-US" sz="1400" dirty="0">
                <a:solidFill>
                  <a:schemeClr val="tx2"/>
                </a:solidFill>
              </a:rPr>
              <a:t>HR = 60 × f of the peak</a:t>
            </a:r>
            <a:endParaRPr lang="en-US" sz="1400" dirty="0"/>
          </a:p>
        </p:txBody>
      </p:sp>
      <p:sp>
        <p:nvSpPr>
          <p:cNvPr id="34" name="Text 26"/>
          <p:cNvSpPr txBox="1"/>
          <p:nvPr/>
        </p:nvSpPr>
        <p:spPr>
          <a:xfrm>
            <a:off x="548640" y="4251960"/>
            <a:ext cx="5486400" cy="365760"/>
          </a:xfrm>
          <a:prstGeom prst="rect">
            <a:avLst/>
          </a:prstGeom>
          <a:noFill/>
          <a:ln/>
        </p:spPr>
        <p:txBody>
          <a:bodyPr wrap="square" lIns="0" tIns="0" rIns="0" bIns="0" rtlCol="0" anchor="t"/>
          <a:lstStyle/>
          <a:p>
            <a:pPr marL="0" indent="0">
              <a:buNone/>
            </a:pPr>
            <a:r>
              <a:rPr lang="en-US" sz="1800" b="1" dirty="0">
                <a:solidFill>
                  <a:schemeClr val="tx1"/>
                </a:solidFill>
              </a:rPr>
              <a:t>In the live demo</a:t>
            </a:r>
            <a:endParaRPr lang="en-US" sz="1800" dirty="0"/>
          </a:p>
        </p:txBody>
      </p:sp>
      <p:sp>
        <p:nvSpPr>
          <p:cNvPr id="35" name="Text 27"/>
          <p:cNvSpPr txBox="1"/>
          <p:nvPr/>
        </p:nvSpPr>
        <p:spPr>
          <a:xfrm>
            <a:off x="548640" y="4663440"/>
            <a:ext cx="2560320" cy="571500"/>
          </a:xfrm>
          <a:prstGeom prst="rect">
            <a:avLst/>
          </a:prstGeom>
          <a:noFill/>
          <a:ln/>
        </p:spPr>
        <p:txBody>
          <a:bodyPr wrap="square" lIns="0" tIns="0" rIns="0" bIns="0" rtlCol="0" anchor="t"/>
          <a:lstStyle/>
          <a:p>
            <a:pPr marL="0" indent="0">
              <a:buNone/>
            </a:pPr>
            <a:r>
              <a:rPr lang="en-US" sz="3600" b="1" dirty="0">
                <a:solidFill>
                  <a:schemeClr val="accent1"/>
                </a:solidFill>
                <a:latin typeface="+mj-lt" pitchFamily="34" charset="0"/>
                <a:ea typeface="+mj-lt" pitchFamily="34" charset="-122"/>
                <a:cs typeface="+mj-lt" pitchFamily="34" charset="-120"/>
              </a:rPr>
              <a:t>10 s</a:t>
            </a:r>
            <a:endParaRPr lang="en-US" sz="3600" dirty="0"/>
          </a:p>
        </p:txBody>
      </p:sp>
      <p:sp>
        <p:nvSpPr>
          <p:cNvPr id="36" name="Text 28"/>
          <p:cNvSpPr txBox="1"/>
          <p:nvPr/>
        </p:nvSpPr>
        <p:spPr>
          <a:xfrm>
            <a:off x="548640" y="5253228"/>
            <a:ext cx="2560320" cy="502920"/>
          </a:xfrm>
          <a:prstGeom prst="rect">
            <a:avLst/>
          </a:prstGeom>
          <a:noFill/>
          <a:ln/>
        </p:spPr>
        <p:txBody>
          <a:bodyPr wrap="square" lIns="0" tIns="0" rIns="0" bIns="0" rtlCol="0" anchor="t"/>
          <a:lstStyle/>
          <a:p>
            <a:pPr marL="0" indent="0">
              <a:buNone/>
            </a:pPr>
            <a:r>
              <a:rPr lang="en-US" sz="1400" dirty="0">
                <a:solidFill>
                  <a:schemeClr val="tx2"/>
                </a:solidFill>
              </a:rPr>
              <a:t>rolling window of frames (300 at 30 fps)</a:t>
            </a:r>
            <a:endParaRPr lang="en-US" sz="1400" dirty="0"/>
          </a:p>
        </p:txBody>
      </p:sp>
      <p:sp>
        <p:nvSpPr>
          <p:cNvPr id="37" name="Text 29"/>
          <p:cNvSpPr txBox="1"/>
          <p:nvPr/>
        </p:nvSpPr>
        <p:spPr>
          <a:xfrm>
            <a:off x="3364992" y="4663440"/>
            <a:ext cx="2560320" cy="571500"/>
          </a:xfrm>
          <a:prstGeom prst="rect">
            <a:avLst/>
          </a:prstGeom>
          <a:noFill/>
          <a:ln/>
        </p:spPr>
        <p:txBody>
          <a:bodyPr wrap="square" lIns="0" tIns="0" rIns="0" bIns="0" rtlCol="0" anchor="t"/>
          <a:lstStyle/>
          <a:p>
            <a:pPr marL="0" indent="0">
              <a:buNone/>
            </a:pPr>
            <a:r>
              <a:rPr lang="en-US" sz="3600" b="1" dirty="0">
                <a:solidFill>
                  <a:schemeClr val="tx1"/>
                </a:solidFill>
                <a:latin typeface="+mj-lt" pitchFamily="34" charset="0"/>
                <a:ea typeface="+mj-lt" pitchFamily="34" charset="-122"/>
                <a:cs typeface="+mj-lt" pitchFamily="34" charset="-120"/>
              </a:rPr>
              <a:t>5</a:t>
            </a:r>
            <a:endParaRPr lang="en-US" sz="3600" dirty="0"/>
          </a:p>
        </p:txBody>
      </p:sp>
      <p:sp>
        <p:nvSpPr>
          <p:cNvPr id="38" name="Text 30"/>
          <p:cNvSpPr txBox="1"/>
          <p:nvPr/>
        </p:nvSpPr>
        <p:spPr>
          <a:xfrm>
            <a:off x="3364992" y="5253228"/>
            <a:ext cx="2560320" cy="502920"/>
          </a:xfrm>
          <a:prstGeom prst="rect">
            <a:avLst/>
          </a:prstGeom>
          <a:noFill/>
          <a:ln/>
        </p:spPr>
        <p:txBody>
          <a:bodyPr wrap="square" lIns="0" tIns="0" rIns="0" bIns="0" rtlCol="0" anchor="t"/>
          <a:lstStyle/>
          <a:p>
            <a:pPr marL="0" indent="0">
              <a:buNone/>
            </a:pPr>
            <a:r>
              <a:rPr lang="en-US" sz="1400" dirty="0">
                <a:solidFill>
                  <a:schemeClr val="tx2"/>
                </a:solidFill>
              </a:rPr>
              <a:t>latest estimates, median shown</a:t>
            </a:r>
            <a:endParaRPr lang="en-US" sz="1400" dirty="0"/>
          </a:p>
        </p:txBody>
      </p:sp>
      <p:sp>
        <p:nvSpPr>
          <p:cNvPr id="39" name="Text 31"/>
          <p:cNvSpPr txBox="1"/>
          <p:nvPr/>
        </p:nvSpPr>
        <p:spPr>
          <a:xfrm>
            <a:off x="6181344" y="4663440"/>
            <a:ext cx="2560320" cy="571500"/>
          </a:xfrm>
          <a:prstGeom prst="rect">
            <a:avLst/>
          </a:prstGeom>
          <a:noFill/>
          <a:ln/>
        </p:spPr>
        <p:txBody>
          <a:bodyPr wrap="square" lIns="0" tIns="0" rIns="0" bIns="0" rtlCol="0" anchor="t"/>
          <a:lstStyle/>
          <a:p>
            <a:pPr marL="0" indent="0">
              <a:buNone/>
            </a:pPr>
            <a:r>
              <a:rPr lang="en-US" sz="3600" b="1" dirty="0">
                <a:solidFill>
                  <a:schemeClr val="tx1"/>
                </a:solidFill>
                <a:latin typeface="+mj-lt" pitchFamily="34" charset="0"/>
                <a:ea typeface="+mj-lt" pitchFamily="34" charset="-122"/>
                <a:cs typeface="+mj-lt" pitchFamily="34" charset="-120"/>
              </a:rPr>
              <a:t>15 s</a:t>
            </a:r>
            <a:endParaRPr lang="en-US" sz="3600" dirty="0"/>
          </a:p>
        </p:txBody>
      </p:sp>
      <p:sp>
        <p:nvSpPr>
          <p:cNvPr id="40" name="Text 32"/>
          <p:cNvSpPr txBox="1"/>
          <p:nvPr/>
        </p:nvSpPr>
        <p:spPr>
          <a:xfrm>
            <a:off x="6181344" y="5253228"/>
            <a:ext cx="2560320" cy="502920"/>
          </a:xfrm>
          <a:prstGeom prst="rect">
            <a:avLst/>
          </a:prstGeom>
          <a:noFill/>
          <a:ln/>
        </p:spPr>
        <p:txBody>
          <a:bodyPr wrap="square" lIns="0" tIns="0" rIns="0" bIns="0" rtlCol="0" anchor="t"/>
          <a:lstStyle/>
          <a:p>
            <a:pPr marL="0" indent="0">
              <a:buNone/>
            </a:pPr>
            <a:r>
              <a:rPr lang="en-US" sz="1400" dirty="0">
                <a:solidFill>
                  <a:schemeClr val="tx2"/>
                </a:solidFill>
              </a:rPr>
              <a:t>to the first reading on a laptop CPU</a:t>
            </a:r>
            <a:endParaRPr lang="en-US" sz="1400" dirty="0"/>
          </a:p>
        </p:txBody>
      </p:sp>
      <p:sp>
        <p:nvSpPr>
          <p:cNvPr id="41" name="Text 33"/>
          <p:cNvSpPr txBox="1"/>
          <p:nvPr/>
        </p:nvSpPr>
        <p:spPr>
          <a:xfrm>
            <a:off x="8997696" y="4663440"/>
            <a:ext cx="2560320" cy="571500"/>
          </a:xfrm>
          <a:prstGeom prst="rect">
            <a:avLst/>
          </a:prstGeom>
          <a:noFill/>
          <a:ln/>
        </p:spPr>
        <p:txBody>
          <a:bodyPr wrap="square" lIns="0" tIns="0" rIns="0" bIns="0" rtlCol="0" anchor="t"/>
          <a:lstStyle/>
          <a:p>
            <a:pPr marL="0" indent="0">
              <a:buNone/>
            </a:pPr>
            <a:r>
              <a:rPr lang="en-US" sz="3600" b="1" dirty="0">
                <a:solidFill>
                  <a:schemeClr val="tx1"/>
                </a:solidFill>
                <a:latin typeface="+mj-lt" pitchFamily="34" charset="0"/>
                <a:ea typeface="+mj-lt" pitchFamily="34" charset="-122"/>
                <a:cs typeface="+mj-lt" pitchFamily="34" charset="-120"/>
              </a:rPr>
              <a:t>3</a:t>
            </a:r>
            <a:endParaRPr lang="en-US" sz="3600" dirty="0"/>
          </a:p>
        </p:txBody>
      </p:sp>
      <p:sp>
        <p:nvSpPr>
          <p:cNvPr id="42" name="Text 34"/>
          <p:cNvSpPr txBox="1"/>
          <p:nvPr/>
        </p:nvSpPr>
        <p:spPr>
          <a:xfrm>
            <a:off x="8997696" y="5253228"/>
            <a:ext cx="2560320" cy="502920"/>
          </a:xfrm>
          <a:prstGeom prst="rect">
            <a:avLst/>
          </a:prstGeom>
          <a:noFill/>
          <a:ln/>
        </p:spPr>
        <p:txBody>
          <a:bodyPr wrap="square" lIns="0" tIns="0" rIns="0" bIns="0" rtlCol="0" anchor="t"/>
          <a:lstStyle/>
          <a:p>
            <a:pPr marL="0" indent="0">
              <a:buNone/>
            </a:pPr>
            <a:r>
              <a:rPr lang="en-US" sz="1400" dirty="0">
                <a:solidFill>
                  <a:schemeClr val="tx2"/>
                </a:solidFill>
              </a:rPr>
              <a:t>warnings: hold still, too dark, weak signal</a:t>
            </a:r>
            <a:endParaRPr lang="en-US" sz="1400" dirty="0"/>
          </a:p>
        </p:txBody>
      </p:sp>
      <p:sp>
        <p:nvSpPr>
          <p:cNvPr id="43" name="Slide Number Placeholder 0"/>
          <p:cNvSpPr>
            <a:spLocks noGrp="1"/>
          </p:cNvSpPr>
          <p:nvPr>
            <p:ph type="sldNum" sz="quarter" idx="4294967295"/>
          </p:nvPr>
        </p:nvSpPr>
        <p:spPr>
          <a:xfrm>
            <a:off x="11091672" y="6336792"/>
            <a:ext cx="54864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a:spLocks noGrp="1"/>
          </p:cNvSpPr>
          <p:nvPr>
            <p:ph type="title" idx="103" hasCustomPrompt="1"/>
          </p:nvPr>
        </p:nvSpPr>
        <p:spPr>
          <a:xfrm>
            <a:off x="548640" y="384048"/>
            <a:ext cx="11091672" cy="731520"/>
          </a:xfrm>
          <a:prstGeom prst="rect">
            <a:avLst/>
          </a:prstGeom>
          <a:noFill/>
          <a:ln/>
        </p:spPr>
        <p:txBody>
          <a:bodyPr wrap="square" lIns="0" tIns="0" rIns="0" bIns="0" rtlCol="0" anchor="ctr"/>
          <a:lstStyle/>
          <a:p>
            <a:pPr marL="0" indent="0" algn="l">
              <a:buNone/>
            </a:pPr>
            <a:r>
              <a:rPr lang="en-US" sz="3600" b="1" dirty="0">
                <a:solidFill>
                  <a:schemeClr val="tx1"/>
                </a:solidFill>
              </a:rPr>
              <a:t>What we compared, and how we scored it</a:t>
            </a:r>
            <a:endParaRPr lang="en-US" sz="3600" dirty="0"/>
          </a:p>
        </p:txBody>
      </p:sp>
      <p:sp>
        <p:nvSpPr>
          <p:cNvPr id="3" name="Text 1"/>
          <p:cNvSpPr txBox="1"/>
          <p:nvPr/>
        </p:nvSpPr>
        <p:spPr>
          <a:xfrm>
            <a:off x="548640" y="1325880"/>
            <a:ext cx="5669280" cy="365760"/>
          </a:xfrm>
          <a:prstGeom prst="rect">
            <a:avLst/>
          </a:prstGeom>
          <a:noFill/>
          <a:ln/>
        </p:spPr>
        <p:txBody>
          <a:bodyPr wrap="square" lIns="0" tIns="0" rIns="0" bIns="0" rtlCol="0" anchor="t"/>
          <a:lstStyle/>
          <a:p>
            <a:pPr marL="0" indent="0">
              <a:buNone/>
            </a:pPr>
            <a:r>
              <a:rPr lang="en-US" sz="1700" b="1" dirty="0">
                <a:solidFill>
                  <a:schemeClr val="accent2"/>
                </a:solidFill>
              </a:rPr>
              <a:t>Classical: signal processing, no training</a:t>
            </a:r>
            <a:endParaRPr lang="en-US" sz="1700" dirty="0"/>
          </a:p>
        </p:txBody>
      </p:sp>
      <p:sp>
        <p:nvSpPr>
          <p:cNvPr id="4" name="Text 2"/>
          <p:cNvSpPr txBox="1"/>
          <p:nvPr/>
        </p:nvSpPr>
        <p:spPr>
          <a:xfrm>
            <a:off x="548640" y="1783080"/>
            <a:ext cx="1188720" cy="365760"/>
          </a:xfrm>
          <a:prstGeom prst="rect">
            <a:avLst/>
          </a:prstGeom>
          <a:noFill/>
          <a:ln/>
        </p:spPr>
        <p:txBody>
          <a:bodyPr wrap="square" lIns="0" tIns="0" rIns="0" bIns="0" rtlCol="0" anchor="t"/>
          <a:lstStyle/>
          <a:p>
            <a:pPr marL="0" indent="0">
              <a:buNone/>
            </a:pPr>
            <a:r>
              <a:rPr lang="en-US" sz="1600" b="1" dirty="0">
                <a:solidFill>
                  <a:schemeClr val="tx1"/>
                </a:solidFill>
              </a:rPr>
              <a:t>GREEN</a:t>
            </a:r>
            <a:endParaRPr lang="en-US" sz="1600" dirty="0"/>
          </a:p>
        </p:txBody>
      </p:sp>
      <p:sp>
        <p:nvSpPr>
          <p:cNvPr id="5" name="Text 3"/>
          <p:cNvSpPr txBox="1"/>
          <p:nvPr/>
        </p:nvSpPr>
        <p:spPr>
          <a:xfrm>
            <a:off x="1783080" y="1783080"/>
            <a:ext cx="4480560" cy="365760"/>
          </a:xfrm>
          <a:prstGeom prst="rect">
            <a:avLst/>
          </a:prstGeom>
          <a:noFill/>
          <a:ln/>
        </p:spPr>
        <p:txBody>
          <a:bodyPr wrap="square" lIns="0" tIns="0" rIns="0" bIns="0" rtlCol="0" anchor="t"/>
          <a:lstStyle/>
          <a:p>
            <a:pPr marL="0" indent="0">
              <a:buNone/>
            </a:pPr>
            <a:r>
              <a:rPr lang="en-US" sz="1500" dirty="0">
                <a:solidFill>
                  <a:schemeClr val="tx2"/>
                </a:solidFill>
              </a:rPr>
              <a:t>Green channel only, no motion handling</a:t>
            </a:r>
            <a:endParaRPr lang="en-US" sz="1500" dirty="0"/>
          </a:p>
        </p:txBody>
      </p:sp>
      <p:sp>
        <p:nvSpPr>
          <p:cNvPr id="6" name="Text 4"/>
          <p:cNvSpPr txBox="1"/>
          <p:nvPr/>
        </p:nvSpPr>
        <p:spPr>
          <a:xfrm>
            <a:off x="548640" y="2350008"/>
            <a:ext cx="1188720" cy="365760"/>
          </a:xfrm>
          <a:prstGeom prst="rect">
            <a:avLst/>
          </a:prstGeom>
          <a:noFill/>
          <a:ln/>
        </p:spPr>
        <p:txBody>
          <a:bodyPr wrap="square" lIns="0" tIns="0" rIns="0" bIns="0" rtlCol="0" anchor="t"/>
          <a:lstStyle/>
          <a:p>
            <a:pPr marL="0" indent="0">
              <a:buNone/>
            </a:pPr>
            <a:r>
              <a:rPr lang="en-US" sz="1600" b="1" dirty="0">
                <a:solidFill>
                  <a:schemeClr val="tx1"/>
                </a:solidFill>
              </a:rPr>
              <a:t>ICA</a:t>
            </a:r>
            <a:endParaRPr lang="en-US" sz="1600" dirty="0"/>
          </a:p>
        </p:txBody>
      </p:sp>
      <p:sp>
        <p:nvSpPr>
          <p:cNvPr id="7" name="Text 5"/>
          <p:cNvSpPr txBox="1"/>
          <p:nvPr/>
        </p:nvSpPr>
        <p:spPr>
          <a:xfrm>
            <a:off x="1783080" y="2350008"/>
            <a:ext cx="4480560" cy="365760"/>
          </a:xfrm>
          <a:prstGeom prst="rect">
            <a:avLst/>
          </a:prstGeom>
          <a:noFill/>
          <a:ln/>
        </p:spPr>
        <p:txBody>
          <a:bodyPr wrap="square" lIns="0" tIns="0" rIns="0" bIns="0" rtlCol="0" anchor="t"/>
          <a:lstStyle/>
          <a:p>
            <a:pPr marL="0" indent="0">
              <a:buNone/>
            </a:pPr>
            <a:r>
              <a:rPr lang="en-US" sz="1500" dirty="0">
                <a:solidFill>
                  <a:schemeClr val="tx2"/>
                </a:solidFill>
              </a:rPr>
              <a:t>Separates pulse from noise statistically</a:t>
            </a:r>
            <a:endParaRPr lang="en-US" sz="1500" dirty="0"/>
          </a:p>
        </p:txBody>
      </p:sp>
      <p:sp>
        <p:nvSpPr>
          <p:cNvPr id="8" name="Text 6"/>
          <p:cNvSpPr txBox="1"/>
          <p:nvPr/>
        </p:nvSpPr>
        <p:spPr>
          <a:xfrm>
            <a:off x="548640" y="2916936"/>
            <a:ext cx="1188720" cy="365760"/>
          </a:xfrm>
          <a:prstGeom prst="rect">
            <a:avLst/>
          </a:prstGeom>
          <a:noFill/>
          <a:ln/>
        </p:spPr>
        <p:txBody>
          <a:bodyPr wrap="square" lIns="0" tIns="0" rIns="0" bIns="0" rtlCol="0" anchor="t"/>
          <a:lstStyle/>
          <a:p>
            <a:pPr marL="0" indent="0">
              <a:buNone/>
            </a:pPr>
            <a:r>
              <a:rPr lang="en-US" sz="1600" b="1" dirty="0">
                <a:solidFill>
                  <a:schemeClr val="tx1"/>
                </a:solidFill>
              </a:rPr>
              <a:t>CHROM</a:t>
            </a:r>
            <a:endParaRPr lang="en-US" sz="1600" dirty="0"/>
          </a:p>
        </p:txBody>
      </p:sp>
      <p:sp>
        <p:nvSpPr>
          <p:cNvPr id="9" name="Text 7"/>
          <p:cNvSpPr txBox="1"/>
          <p:nvPr/>
        </p:nvSpPr>
        <p:spPr>
          <a:xfrm>
            <a:off x="1783080" y="2916936"/>
            <a:ext cx="4480560" cy="365760"/>
          </a:xfrm>
          <a:prstGeom prst="rect">
            <a:avLst/>
          </a:prstGeom>
          <a:noFill/>
          <a:ln/>
        </p:spPr>
        <p:txBody>
          <a:bodyPr wrap="square" lIns="0" tIns="0" rIns="0" bIns="0" rtlCol="0" anchor="t"/>
          <a:lstStyle/>
          <a:p>
            <a:pPr marL="0" indent="0">
              <a:buNone/>
            </a:pPr>
            <a:r>
              <a:rPr lang="en-US" sz="1500" dirty="0">
                <a:solidFill>
                  <a:schemeClr val="tx2"/>
                </a:solidFill>
              </a:rPr>
              <a:t>Colour difference that cancels glare and motion</a:t>
            </a:r>
            <a:endParaRPr lang="en-US" sz="1500" dirty="0"/>
          </a:p>
        </p:txBody>
      </p:sp>
      <p:sp>
        <p:nvSpPr>
          <p:cNvPr id="10" name="Text 8"/>
          <p:cNvSpPr txBox="1"/>
          <p:nvPr/>
        </p:nvSpPr>
        <p:spPr>
          <a:xfrm>
            <a:off x="548640" y="3483864"/>
            <a:ext cx="1188720" cy="365760"/>
          </a:xfrm>
          <a:prstGeom prst="rect">
            <a:avLst/>
          </a:prstGeom>
          <a:noFill/>
          <a:ln/>
        </p:spPr>
        <p:txBody>
          <a:bodyPr wrap="square" lIns="0" tIns="0" rIns="0" bIns="0" rtlCol="0" anchor="t"/>
          <a:lstStyle/>
          <a:p>
            <a:pPr marL="0" indent="0">
              <a:buNone/>
            </a:pPr>
            <a:r>
              <a:rPr lang="en-US" sz="1600" b="1" dirty="0">
                <a:solidFill>
                  <a:schemeClr val="tx1"/>
                </a:solidFill>
              </a:rPr>
              <a:t>POS</a:t>
            </a:r>
            <a:endParaRPr lang="en-US" sz="1600" dirty="0"/>
          </a:p>
        </p:txBody>
      </p:sp>
      <p:sp>
        <p:nvSpPr>
          <p:cNvPr id="11" name="Text 9"/>
          <p:cNvSpPr txBox="1"/>
          <p:nvPr/>
        </p:nvSpPr>
        <p:spPr>
          <a:xfrm>
            <a:off x="1783080" y="3483864"/>
            <a:ext cx="4480560" cy="365760"/>
          </a:xfrm>
          <a:prstGeom prst="rect">
            <a:avLst/>
          </a:prstGeom>
          <a:noFill/>
          <a:ln/>
        </p:spPr>
        <p:txBody>
          <a:bodyPr wrap="square" lIns="0" tIns="0" rIns="0" bIns="0" rtlCol="0" anchor="t"/>
          <a:lstStyle/>
          <a:p>
            <a:pPr marL="0" indent="0">
              <a:buNone/>
            </a:pPr>
            <a:r>
              <a:rPr lang="en-US" sz="1500" dirty="0">
                <a:solidFill>
                  <a:schemeClr val="tx2"/>
                </a:solidFill>
              </a:rPr>
              <a:t>Projection against skin tone, strong baseline</a:t>
            </a:r>
            <a:endParaRPr lang="en-US" sz="1500" dirty="0"/>
          </a:p>
        </p:txBody>
      </p:sp>
      <p:sp>
        <p:nvSpPr>
          <p:cNvPr id="12" name="Text 10"/>
          <p:cNvSpPr txBox="1"/>
          <p:nvPr/>
        </p:nvSpPr>
        <p:spPr>
          <a:xfrm>
            <a:off x="548640" y="4206240"/>
            <a:ext cx="5669280" cy="365760"/>
          </a:xfrm>
          <a:prstGeom prst="rect">
            <a:avLst/>
          </a:prstGeom>
          <a:noFill/>
          <a:ln/>
        </p:spPr>
        <p:txBody>
          <a:bodyPr wrap="square" lIns="0" tIns="0" rIns="0" bIns="0" rtlCol="0" anchor="t"/>
          <a:lstStyle/>
          <a:p>
            <a:pPr marL="0" indent="0">
              <a:buNone/>
            </a:pPr>
            <a:r>
              <a:rPr lang="en-US" sz="1700" b="1" dirty="0">
                <a:solidFill>
                  <a:schemeClr val="accent1"/>
                </a:solidFill>
              </a:rPr>
              <a:t>Deep: learned from data</a:t>
            </a:r>
            <a:endParaRPr lang="en-US" sz="1700" dirty="0"/>
          </a:p>
        </p:txBody>
      </p:sp>
      <p:sp>
        <p:nvSpPr>
          <p:cNvPr id="13" name="Text 11"/>
          <p:cNvSpPr txBox="1"/>
          <p:nvPr/>
        </p:nvSpPr>
        <p:spPr>
          <a:xfrm>
            <a:off x="548640" y="4663440"/>
            <a:ext cx="1188720" cy="365760"/>
          </a:xfrm>
          <a:prstGeom prst="rect">
            <a:avLst/>
          </a:prstGeom>
          <a:noFill/>
          <a:ln/>
        </p:spPr>
        <p:txBody>
          <a:bodyPr wrap="square" lIns="0" tIns="0" rIns="0" bIns="0" rtlCol="0" anchor="t"/>
          <a:lstStyle/>
          <a:p>
            <a:pPr marL="0" indent="0">
              <a:buNone/>
            </a:pPr>
            <a:r>
              <a:rPr lang="en-US" sz="1600" b="1" dirty="0">
                <a:solidFill>
                  <a:schemeClr val="tx1"/>
                </a:solidFill>
              </a:rPr>
              <a:t>TS-CAN</a:t>
            </a:r>
            <a:endParaRPr lang="en-US" sz="1600" dirty="0"/>
          </a:p>
        </p:txBody>
      </p:sp>
      <p:sp>
        <p:nvSpPr>
          <p:cNvPr id="14" name="Text 12"/>
          <p:cNvSpPr txBox="1"/>
          <p:nvPr/>
        </p:nvSpPr>
        <p:spPr>
          <a:xfrm>
            <a:off x="1783080" y="4663440"/>
            <a:ext cx="4480560" cy="1097280"/>
          </a:xfrm>
          <a:prstGeom prst="rect">
            <a:avLst/>
          </a:prstGeom>
          <a:noFill/>
          <a:ln/>
        </p:spPr>
        <p:txBody>
          <a:bodyPr wrap="square" lIns="0" tIns="0" rIns="0" bIns="0" rtlCol="0" anchor="t"/>
          <a:lstStyle/>
          <a:p>
            <a:pPr marL="0" indent="0">
              <a:buNone/>
            </a:pPr>
            <a:r>
              <a:rPr lang="en-US" sz="1500" dirty="0">
                <a:solidFill>
                  <a:schemeClr val="tx2"/>
                </a:solidFill>
              </a:rPr>
              <a:t>Neural network on 72 × 72 frames. Released rPPG-Toolbox weights trained on PURE (real video) and on SCAMPS (synthetic faces).</a:t>
            </a:r>
            <a:endParaRPr lang="en-US" sz="1500" dirty="0"/>
          </a:p>
        </p:txBody>
      </p:sp>
      <p:sp>
        <p:nvSpPr>
          <p:cNvPr id="15" name="Evaluation card"/>
          <p:cNvSpPr/>
          <p:nvPr/>
        </p:nvSpPr>
        <p:spPr>
          <a:xfrm>
            <a:off x="6629400" y="1325880"/>
            <a:ext cx="5010912" cy="4709160"/>
          </a:xfrm>
          <a:prstGeom prst="roundRect">
            <a:avLst>
              <a:gd name="adj" fmla="val 3495"/>
            </a:avLst>
          </a:prstGeom>
          <a:solidFill>
            <a:schemeClr val="bg2"/>
          </a:solidFill>
          <a:ln/>
        </p:spPr>
        <p:txBody>
          <a:bodyPr/>
          <a:lstStyle/>
          <a:p>
            <a:endParaRPr lang="en-US"/>
          </a:p>
        </p:txBody>
      </p:sp>
      <p:sp>
        <p:nvSpPr>
          <p:cNvPr id="16" name="Text 14"/>
          <p:cNvSpPr txBox="1"/>
          <p:nvPr/>
        </p:nvSpPr>
        <p:spPr>
          <a:xfrm>
            <a:off x="6995160" y="1645920"/>
            <a:ext cx="4389120" cy="411480"/>
          </a:xfrm>
          <a:prstGeom prst="rect">
            <a:avLst/>
          </a:prstGeom>
          <a:noFill/>
          <a:ln/>
        </p:spPr>
        <p:txBody>
          <a:bodyPr wrap="square" lIns="0" tIns="0" rIns="0" bIns="0" rtlCol="0" anchor="t"/>
          <a:lstStyle/>
          <a:p>
            <a:pPr marL="0" indent="0">
              <a:buNone/>
            </a:pPr>
            <a:r>
              <a:rPr lang="en-US" sz="1900" b="1" dirty="0">
                <a:solidFill>
                  <a:schemeClr val="tx1"/>
                </a:solidFill>
              </a:rPr>
              <a:t>Evaluation on UBFC-rPPG</a:t>
            </a:r>
            <a:endParaRPr lang="en-US" sz="1900" dirty="0"/>
          </a:p>
        </p:txBody>
      </p:sp>
      <p:sp>
        <p:nvSpPr>
          <p:cNvPr id="17" name="Text 15"/>
          <p:cNvSpPr txBox="1"/>
          <p:nvPr/>
        </p:nvSpPr>
        <p:spPr>
          <a:xfrm>
            <a:off x="6995160" y="2194560"/>
            <a:ext cx="1371600" cy="539750"/>
          </a:xfrm>
          <a:prstGeom prst="rect">
            <a:avLst/>
          </a:prstGeom>
          <a:noFill/>
          <a:ln/>
        </p:spPr>
        <p:txBody>
          <a:bodyPr wrap="square" lIns="0" tIns="0" rIns="0" bIns="0" rtlCol="0" anchor="t"/>
          <a:lstStyle/>
          <a:p>
            <a:pPr marL="0" indent="0">
              <a:buNone/>
            </a:pPr>
            <a:r>
              <a:rPr lang="en-US" sz="3400" b="1" dirty="0">
                <a:solidFill>
                  <a:schemeClr val="tx1"/>
                </a:solidFill>
                <a:latin typeface="+mj-lt" pitchFamily="34" charset="0"/>
                <a:ea typeface="+mj-lt" pitchFamily="34" charset="-122"/>
                <a:cs typeface="+mj-lt" pitchFamily="34" charset="-120"/>
              </a:rPr>
              <a:t>42</a:t>
            </a:r>
            <a:endParaRPr lang="en-US" sz="3400" dirty="0"/>
          </a:p>
        </p:txBody>
      </p:sp>
      <p:sp>
        <p:nvSpPr>
          <p:cNvPr id="18" name="Text 16"/>
          <p:cNvSpPr txBox="1"/>
          <p:nvPr/>
        </p:nvSpPr>
        <p:spPr>
          <a:xfrm>
            <a:off x="6995160" y="2752598"/>
            <a:ext cx="1371600" cy="502920"/>
          </a:xfrm>
          <a:prstGeom prst="rect">
            <a:avLst/>
          </a:prstGeom>
          <a:noFill/>
          <a:ln/>
        </p:spPr>
        <p:txBody>
          <a:bodyPr wrap="square" lIns="0" tIns="0" rIns="0" bIns="0" rtlCol="0" anchor="t"/>
          <a:lstStyle/>
          <a:p>
            <a:pPr marL="0" indent="0">
              <a:buNone/>
            </a:pPr>
            <a:r>
              <a:rPr lang="en-US" sz="1400" dirty="0">
                <a:solidFill>
                  <a:schemeClr val="tx2"/>
                </a:solidFill>
              </a:rPr>
              <a:t>videos</a:t>
            </a:r>
            <a:endParaRPr lang="en-US" sz="1400" dirty="0"/>
          </a:p>
        </p:txBody>
      </p:sp>
      <p:sp>
        <p:nvSpPr>
          <p:cNvPr id="19" name="Text 17"/>
          <p:cNvSpPr txBox="1"/>
          <p:nvPr/>
        </p:nvSpPr>
        <p:spPr>
          <a:xfrm>
            <a:off x="8458200" y="2194560"/>
            <a:ext cx="1371600" cy="539750"/>
          </a:xfrm>
          <a:prstGeom prst="rect">
            <a:avLst/>
          </a:prstGeom>
          <a:noFill/>
          <a:ln/>
        </p:spPr>
        <p:txBody>
          <a:bodyPr wrap="square" lIns="0" tIns="0" rIns="0" bIns="0" rtlCol="0" anchor="t"/>
          <a:lstStyle/>
          <a:p>
            <a:pPr marL="0" indent="0">
              <a:buNone/>
            </a:pPr>
            <a:r>
              <a:rPr lang="en-US" sz="3400" b="1" dirty="0">
                <a:solidFill>
                  <a:schemeClr val="accent1"/>
                </a:solidFill>
                <a:latin typeface="+mj-lt" pitchFamily="34" charset="0"/>
                <a:ea typeface="+mj-lt" pitchFamily="34" charset="-122"/>
                <a:cs typeface="+mj-lt" pitchFamily="34" charset="-120"/>
              </a:rPr>
              <a:t>490</a:t>
            </a:r>
            <a:endParaRPr lang="en-US" sz="3400" dirty="0"/>
          </a:p>
        </p:txBody>
      </p:sp>
      <p:sp>
        <p:nvSpPr>
          <p:cNvPr id="20" name="Text 18"/>
          <p:cNvSpPr txBox="1"/>
          <p:nvPr/>
        </p:nvSpPr>
        <p:spPr>
          <a:xfrm>
            <a:off x="8458200" y="2752598"/>
            <a:ext cx="1371600" cy="502920"/>
          </a:xfrm>
          <a:prstGeom prst="rect">
            <a:avLst/>
          </a:prstGeom>
          <a:noFill/>
          <a:ln/>
        </p:spPr>
        <p:txBody>
          <a:bodyPr wrap="square" lIns="0" tIns="0" rIns="0" bIns="0" rtlCol="0" anchor="t"/>
          <a:lstStyle/>
          <a:p>
            <a:pPr marL="0" indent="0">
              <a:buNone/>
            </a:pPr>
            <a:r>
              <a:rPr lang="en-US" sz="1400" dirty="0">
                <a:solidFill>
                  <a:schemeClr val="tx2"/>
                </a:solidFill>
              </a:rPr>
              <a:t>windows per method</a:t>
            </a:r>
            <a:endParaRPr lang="en-US" sz="1400" dirty="0"/>
          </a:p>
        </p:txBody>
      </p:sp>
      <p:sp>
        <p:nvSpPr>
          <p:cNvPr id="21" name="Text 19"/>
          <p:cNvSpPr txBox="1"/>
          <p:nvPr/>
        </p:nvSpPr>
        <p:spPr>
          <a:xfrm>
            <a:off x="9921240" y="2194560"/>
            <a:ext cx="1371600" cy="539750"/>
          </a:xfrm>
          <a:prstGeom prst="rect">
            <a:avLst/>
          </a:prstGeom>
          <a:noFill/>
          <a:ln/>
        </p:spPr>
        <p:txBody>
          <a:bodyPr wrap="square" lIns="0" tIns="0" rIns="0" bIns="0" rtlCol="0" anchor="t"/>
          <a:lstStyle/>
          <a:p>
            <a:pPr marL="0" indent="0">
              <a:buNone/>
            </a:pPr>
            <a:r>
              <a:rPr lang="en-US" sz="3400" b="1" dirty="0">
                <a:solidFill>
                  <a:schemeClr val="tx1"/>
                </a:solidFill>
                <a:latin typeface="+mj-lt" pitchFamily="34" charset="0"/>
                <a:ea typeface="+mj-lt" pitchFamily="34" charset="-122"/>
                <a:cs typeface="+mj-lt" pitchFamily="34" charset="-120"/>
              </a:rPr>
              <a:t>6</a:t>
            </a:r>
            <a:endParaRPr lang="en-US" sz="3400" dirty="0"/>
          </a:p>
        </p:txBody>
      </p:sp>
      <p:sp>
        <p:nvSpPr>
          <p:cNvPr id="22" name="Text 20"/>
          <p:cNvSpPr txBox="1"/>
          <p:nvPr/>
        </p:nvSpPr>
        <p:spPr>
          <a:xfrm>
            <a:off x="9921240" y="2752598"/>
            <a:ext cx="1371600" cy="502920"/>
          </a:xfrm>
          <a:prstGeom prst="rect">
            <a:avLst/>
          </a:prstGeom>
          <a:noFill/>
          <a:ln/>
        </p:spPr>
        <p:txBody>
          <a:bodyPr wrap="square" lIns="0" tIns="0" rIns="0" bIns="0" rtlCol="0" anchor="t"/>
          <a:lstStyle/>
          <a:p>
            <a:pPr marL="0" indent="0">
              <a:buNone/>
            </a:pPr>
            <a:r>
              <a:rPr lang="en-US" sz="1400" dirty="0">
                <a:solidFill>
                  <a:schemeClr val="tx2"/>
                </a:solidFill>
              </a:rPr>
              <a:t>methods</a:t>
            </a:r>
            <a:endParaRPr lang="en-US" sz="1400" dirty="0"/>
          </a:p>
        </p:txBody>
      </p:sp>
      <p:sp>
        <p:nvSpPr>
          <p:cNvPr id="23" name="Text 21"/>
          <p:cNvSpPr txBox="1"/>
          <p:nvPr/>
        </p:nvSpPr>
        <p:spPr>
          <a:xfrm>
            <a:off x="6995160" y="3337560"/>
            <a:ext cx="4343400" cy="25146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Each 10 s window (5 s step) is scored against the heart rate of a finger-clip pulse recording</a:t>
            </a:r>
            <a:endParaRPr lang="en-US" sz="1500" dirty="0"/>
          </a:p>
          <a:p>
            <a:pPr marL="342900" indent="-342900">
              <a:spcAft>
                <a:spcPts val="800"/>
              </a:spcAft>
              <a:buSzPct val="100000"/>
              <a:buChar char="•"/>
            </a:pPr>
            <a:r>
              <a:rPr lang="en-US" sz="1500" dirty="0">
                <a:solidFill>
                  <a:schemeClr val="tx1"/>
                </a:solidFill>
              </a:rPr>
              <a:t>Per video: median over its windows</a:t>
            </a:r>
            <a:endParaRPr lang="en-US" sz="1500" dirty="0"/>
          </a:p>
          <a:p>
            <a:pPr marL="342900" indent="-342900">
              <a:spcAft>
                <a:spcPts val="800"/>
              </a:spcAft>
              <a:buSzPct val="100000"/>
              <a:buChar char="•"/>
            </a:pPr>
            <a:r>
              <a:rPr lang="en-US" sz="1500" dirty="0">
                <a:solidFill>
                  <a:schemeClr val="tx1"/>
                </a:solidFill>
              </a:rPr>
              <a:t>Main metric MAE; also RMSE, MAPE, Pearson r, Bland-Altman</a:t>
            </a:r>
            <a:endParaRPr lang="en-US" sz="1500" dirty="0"/>
          </a:p>
          <a:p>
            <a:pPr marL="342900" indent="-342900">
              <a:spcAft>
                <a:spcPts val="800"/>
              </a:spcAft>
              <a:buSzPct val="100000"/>
              <a:buChar char="•"/>
            </a:pPr>
            <a:r>
              <a:rPr lang="en-US" sz="1500" dirty="0">
                <a:solidFill>
                  <a:schemeClr val="tx1"/>
                </a:solidFill>
              </a:rPr>
              <a:t>Targets: beat every classical method, MAE under 5 bpm</a:t>
            </a:r>
            <a:endParaRPr lang="en-US" sz="1500" dirty="0"/>
          </a:p>
        </p:txBody>
      </p:sp>
      <p:sp>
        <p:nvSpPr>
          <p:cNvPr id="25" name="Slide Number Placeholder 0"/>
          <p:cNvSpPr>
            <a:spLocks noGrp="1"/>
          </p:cNvSpPr>
          <p:nvPr>
            <p:ph type="sldNum" sz="quarter" idx="4294967295"/>
          </p:nvPr>
        </p:nvSpPr>
        <p:spPr>
          <a:xfrm>
            <a:off x="11091672" y="6336792"/>
            <a:ext cx="54864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a:spLocks noGrp="1"/>
          </p:cNvSpPr>
          <p:nvPr>
            <p:ph type="title" idx="103" hasCustomPrompt="1"/>
          </p:nvPr>
        </p:nvSpPr>
        <p:spPr>
          <a:xfrm>
            <a:off x="548640" y="384048"/>
            <a:ext cx="11091672" cy="731520"/>
          </a:xfrm>
          <a:prstGeom prst="rect">
            <a:avLst/>
          </a:prstGeom>
          <a:noFill/>
          <a:ln/>
        </p:spPr>
        <p:txBody>
          <a:bodyPr wrap="square" lIns="0" tIns="0" rIns="0" bIns="0" rtlCol="0" anchor="ctr"/>
          <a:lstStyle/>
          <a:p>
            <a:pPr marL="0" indent="0" algn="l">
              <a:buNone/>
            </a:pPr>
            <a:r>
              <a:rPr lang="en-US" sz="3600" b="1" dirty="0">
                <a:solidFill>
                  <a:schemeClr val="tx1"/>
                </a:solidFill>
              </a:rPr>
              <a:t>RQ1: deep edges out classical</a:t>
            </a:r>
            <a:endParaRPr lang="en-US" sz="3600" dirty="0"/>
          </a:p>
        </p:txBody>
      </p:sp>
      <p:graphicFrame>
        <p:nvGraphicFramePr>
          <p:cNvPr id="3" name="MAE by method chart"/>
          <p:cNvGraphicFramePr/>
          <p:nvPr/>
        </p:nvGraphicFramePr>
        <p:xfrm>
          <a:off x="548640" y="1325880"/>
          <a:ext cx="6949440" cy="480060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8001000" y="1463040"/>
            <a:ext cx="3657600" cy="698500"/>
          </a:xfrm>
          <a:prstGeom prst="rect">
            <a:avLst/>
          </a:prstGeom>
          <a:noFill/>
          <a:ln/>
        </p:spPr>
        <p:txBody>
          <a:bodyPr wrap="square" lIns="0" tIns="0" rIns="0" bIns="0" rtlCol="0" anchor="t"/>
          <a:lstStyle/>
          <a:p>
            <a:pPr marL="0" indent="0">
              <a:buNone/>
            </a:pPr>
            <a:r>
              <a:rPr lang="en-US" sz="4400" b="1" dirty="0">
                <a:solidFill>
                  <a:schemeClr val="accent1"/>
                </a:solidFill>
                <a:latin typeface="+mj-lt" pitchFamily="34" charset="0"/>
                <a:ea typeface="+mj-lt" pitchFamily="34" charset="-122"/>
                <a:cs typeface="+mj-lt" pitchFamily="34" charset="-120"/>
              </a:rPr>
              <a:t>1.80 bpm</a:t>
            </a:r>
            <a:endParaRPr lang="en-US" sz="4400" dirty="0"/>
          </a:p>
        </p:txBody>
      </p:sp>
      <p:sp>
        <p:nvSpPr>
          <p:cNvPr id="5" name="Text 2"/>
          <p:cNvSpPr txBox="1"/>
          <p:nvPr/>
        </p:nvSpPr>
        <p:spPr>
          <a:xfrm>
            <a:off x="8001000" y="2179828"/>
            <a:ext cx="3657600" cy="502920"/>
          </a:xfrm>
          <a:prstGeom prst="rect">
            <a:avLst/>
          </a:prstGeom>
          <a:noFill/>
          <a:ln/>
        </p:spPr>
        <p:txBody>
          <a:bodyPr wrap="square" lIns="0" tIns="0" rIns="0" bIns="0" rtlCol="0" anchor="t"/>
          <a:lstStyle/>
          <a:p>
            <a:pPr marL="0" indent="0">
              <a:buNone/>
            </a:pPr>
            <a:r>
              <a:rPr lang="en-US" sz="1400" dirty="0">
                <a:solidFill>
                  <a:schemeClr val="tx2"/>
                </a:solidFill>
              </a:rPr>
              <a:t>TS-CAN (PURE), per window</a:t>
            </a:r>
            <a:endParaRPr lang="en-US" sz="1400" dirty="0"/>
          </a:p>
        </p:txBody>
      </p:sp>
      <p:sp>
        <p:nvSpPr>
          <p:cNvPr id="6" name="Text 3"/>
          <p:cNvSpPr txBox="1"/>
          <p:nvPr/>
        </p:nvSpPr>
        <p:spPr>
          <a:xfrm>
            <a:off x="8001000" y="2697480"/>
            <a:ext cx="3657600" cy="635000"/>
          </a:xfrm>
          <a:prstGeom prst="rect">
            <a:avLst/>
          </a:prstGeom>
          <a:noFill/>
          <a:ln/>
        </p:spPr>
        <p:txBody>
          <a:bodyPr wrap="square" lIns="0" tIns="0" rIns="0" bIns="0" rtlCol="0" anchor="t"/>
          <a:lstStyle/>
          <a:p>
            <a:pPr marL="0" indent="0">
              <a:buNone/>
            </a:pPr>
            <a:r>
              <a:rPr lang="en-US" sz="4000" b="1" dirty="0">
                <a:solidFill>
                  <a:schemeClr val="tx1"/>
                </a:solidFill>
                <a:latin typeface="+mj-lt" pitchFamily="34" charset="0"/>
                <a:ea typeface="+mj-lt" pitchFamily="34" charset="-122"/>
                <a:cs typeface="+mj-lt" pitchFamily="34" charset="-120"/>
              </a:rPr>
              <a:t>2.00 bpm</a:t>
            </a:r>
            <a:endParaRPr lang="en-US" sz="4000" dirty="0"/>
          </a:p>
        </p:txBody>
      </p:sp>
      <p:sp>
        <p:nvSpPr>
          <p:cNvPr id="7" name="Text 4"/>
          <p:cNvSpPr txBox="1"/>
          <p:nvPr/>
        </p:nvSpPr>
        <p:spPr>
          <a:xfrm>
            <a:off x="8001000" y="3350768"/>
            <a:ext cx="3657600" cy="502920"/>
          </a:xfrm>
          <a:prstGeom prst="rect">
            <a:avLst/>
          </a:prstGeom>
          <a:noFill/>
          <a:ln/>
        </p:spPr>
        <p:txBody>
          <a:bodyPr wrap="square" lIns="0" tIns="0" rIns="0" bIns="0" rtlCol="0" anchor="t"/>
          <a:lstStyle/>
          <a:p>
            <a:pPr marL="0" indent="0">
              <a:buNone/>
            </a:pPr>
            <a:r>
              <a:rPr lang="en-US" sz="1400" dirty="0">
                <a:solidFill>
                  <a:schemeClr val="tx2"/>
                </a:solidFill>
              </a:rPr>
              <a:t>CHROM, best classical method</a:t>
            </a:r>
            <a:endParaRPr lang="en-US" sz="1400" dirty="0"/>
          </a:p>
        </p:txBody>
      </p:sp>
      <p:sp>
        <p:nvSpPr>
          <p:cNvPr id="8" name="Text 5"/>
          <p:cNvSpPr txBox="1"/>
          <p:nvPr/>
        </p:nvSpPr>
        <p:spPr>
          <a:xfrm>
            <a:off x="8001000" y="3886200"/>
            <a:ext cx="3657600" cy="635000"/>
          </a:xfrm>
          <a:prstGeom prst="rect">
            <a:avLst/>
          </a:prstGeom>
          <a:noFill/>
          <a:ln/>
        </p:spPr>
        <p:txBody>
          <a:bodyPr wrap="square" lIns="0" tIns="0" rIns="0" bIns="0" rtlCol="0" anchor="t"/>
          <a:lstStyle/>
          <a:p>
            <a:pPr marL="0" indent="0">
              <a:buNone/>
            </a:pPr>
            <a:r>
              <a:rPr lang="en-US" sz="4000" b="1" dirty="0">
                <a:solidFill>
                  <a:schemeClr val="tx1"/>
                </a:solidFill>
                <a:latin typeface="+mj-lt" pitchFamily="34" charset="0"/>
                <a:ea typeface="+mj-lt" pitchFamily="34" charset="-122"/>
                <a:cs typeface="+mj-lt" pitchFamily="34" charset="-120"/>
              </a:rPr>
              <a:t>0.72 = 0.72</a:t>
            </a:r>
            <a:endParaRPr lang="en-US" sz="4000" dirty="0"/>
          </a:p>
        </p:txBody>
      </p:sp>
      <p:sp>
        <p:nvSpPr>
          <p:cNvPr id="9" name="Text 6"/>
          <p:cNvSpPr txBox="1"/>
          <p:nvPr/>
        </p:nvSpPr>
        <p:spPr>
          <a:xfrm>
            <a:off x="8001000" y="4539488"/>
            <a:ext cx="3657600" cy="502920"/>
          </a:xfrm>
          <a:prstGeom prst="rect">
            <a:avLst/>
          </a:prstGeom>
          <a:noFill/>
          <a:ln/>
        </p:spPr>
        <p:txBody>
          <a:bodyPr wrap="square" lIns="0" tIns="0" rIns="0" bIns="0" rtlCol="0" anchor="t"/>
          <a:lstStyle/>
          <a:p>
            <a:pPr marL="0" indent="0">
              <a:buNone/>
            </a:pPr>
            <a:r>
              <a:rPr lang="en-US" sz="1400" dirty="0">
                <a:solidFill>
                  <a:schemeClr val="tx2"/>
                </a:solidFill>
              </a:rPr>
              <a:t>Per video: an exact tie</a:t>
            </a:r>
            <a:endParaRPr lang="en-US" sz="1400" dirty="0"/>
          </a:p>
        </p:txBody>
      </p:sp>
      <p:sp>
        <p:nvSpPr>
          <p:cNvPr id="10" name="Text 7"/>
          <p:cNvSpPr txBox="1"/>
          <p:nvPr/>
        </p:nvSpPr>
        <p:spPr>
          <a:xfrm>
            <a:off x="8001000" y="5120640"/>
            <a:ext cx="3639312" cy="914400"/>
          </a:xfrm>
          <a:prstGeom prst="rect">
            <a:avLst/>
          </a:prstGeom>
          <a:noFill/>
          <a:ln/>
        </p:spPr>
        <p:txBody>
          <a:bodyPr wrap="square" lIns="0" tIns="0" rIns="0" bIns="0" rtlCol="0" anchor="t"/>
          <a:lstStyle/>
          <a:p>
            <a:pPr marL="0" indent="0">
              <a:buNone/>
            </a:pPr>
            <a:r>
              <a:rPr lang="en-US" sz="1500" dirty="0">
                <a:solidFill>
                  <a:schemeClr val="tx2"/>
                </a:solidFill>
              </a:rPr>
              <a:t>A narrow lead: CHROM keeps a slightly higher correlation (0.94 vs 0.93). Both are well under the 5 bpm target.</a:t>
            </a:r>
            <a:endParaRPr lang="en-US" sz="1500" dirty="0"/>
          </a:p>
        </p:txBody>
      </p:sp>
      <p:sp>
        <p:nvSpPr>
          <p:cNvPr id="25" name="Slide Number Placeholder 0"/>
          <p:cNvSpPr>
            <a:spLocks noGrp="1"/>
          </p:cNvSpPr>
          <p:nvPr>
            <p:ph type="sldNum" sz="quarter" idx="4294967295"/>
          </p:nvPr>
        </p:nvSpPr>
        <p:spPr>
          <a:xfrm>
            <a:off x="11091672" y="6336792"/>
            <a:ext cx="54864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a:spLocks noGrp="1"/>
          </p:cNvSpPr>
          <p:nvPr>
            <p:ph type="title" idx="103" hasCustomPrompt="1"/>
          </p:nvPr>
        </p:nvSpPr>
        <p:spPr>
          <a:xfrm>
            <a:off x="548640" y="384048"/>
            <a:ext cx="11091672" cy="731520"/>
          </a:xfrm>
          <a:prstGeom prst="rect">
            <a:avLst/>
          </a:prstGeom>
          <a:noFill/>
          <a:ln/>
        </p:spPr>
        <p:txBody>
          <a:bodyPr wrap="square" lIns="0" tIns="0" rIns="0" bIns="0" rtlCol="0" anchor="ctr"/>
          <a:lstStyle/>
          <a:p>
            <a:pPr marL="0" indent="0" algn="l">
              <a:buNone/>
            </a:pPr>
            <a:r>
              <a:rPr lang="en-US" sz="3600" b="1" dirty="0">
                <a:solidFill>
                  <a:schemeClr val="tx1"/>
                </a:solidFill>
              </a:rPr>
              <a:t>Most windows are right; a few miss badly</a:t>
            </a:r>
            <a:endParaRPr lang="en-US" sz="3600" dirty="0"/>
          </a:p>
        </p:txBody>
      </p:sp>
      <p:pic>
        <p:nvPicPr>
          <p:cNvPr id="3" name="Bland-Altman plot" descr="C:\Users\ASUS\AppData\Local\Temp\claude\D--PulseCam\15b79863-0d9b-43e5-86fa-f970749171f7\scratchpad\deck\img\ba_tscan.png"/>
          <p:cNvPicPr>
            <a:picLocks noChangeAspect="1"/>
          </p:cNvPicPr>
          <p:nvPr/>
        </p:nvPicPr>
        <p:blipFill>
          <a:blip r:embed="rId3"/>
          <a:stretch>
            <a:fillRect/>
          </a:stretch>
        </p:blipFill>
        <p:spPr>
          <a:xfrm>
            <a:off x="548640" y="1371600"/>
            <a:ext cx="5029200" cy="4023360"/>
          </a:xfrm>
          <a:prstGeom prst="rect">
            <a:avLst/>
          </a:prstGeom>
          <a:effectLst>
            <a:outerShdw blurRad="203200" dist="63500" dir="5400000" algn="bl" rotWithShape="0">
              <a:srgbClr val="1D3557">
                <a:alpha val="16000"/>
              </a:srgbClr>
            </a:outerShdw>
          </a:effectLst>
        </p:spPr>
      </p:pic>
      <p:sp>
        <p:nvSpPr>
          <p:cNvPr id="4" name="Text 1"/>
          <p:cNvSpPr txBox="1"/>
          <p:nvPr/>
        </p:nvSpPr>
        <p:spPr>
          <a:xfrm>
            <a:off x="548640" y="5486400"/>
            <a:ext cx="5029200" cy="320040"/>
          </a:xfrm>
          <a:prstGeom prst="rect">
            <a:avLst/>
          </a:prstGeom>
          <a:noFill/>
          <a:ln/>
        </p:spPr>
        <p:txBody>
          <a:bodyPr wrap="square" lIns="0" tIns="0" rIns="0" bIns="0" rtlCol="0" anchor="t"/>
          <a:lstStyle/>
          <a:p>
            <a:pPr marL="0" indent="0">
              <a:buNone/>
            </a:pPr>
            <a:r>
              <a:rPr lang="en-US" sz="1200" i="1" dirty="0">
                <a:solidFill>
                  <a:schemeClr val="tx2"/>
                </a:solidFill>
              </a:rPr>
              <a:t>Bland-Altman plot, TS-CAN (PURE), 490 windows</a:t>
            </a:r>
            <a:endParaRPr lang="en-US" sz="1200" dirty="0"/>
          </a:p>
        </p:txBody>
      </p:sp>
      <p:sp>
        <p:nvSpPr>
          <p:cNvPr id="5" name="Text 2"/>
          <p:cNvSpPr txBox="1"/>
          <p:nvPr/>
        </p:nvSpPr>
        <p:spPr>
          <a:xfrm>
            <a:off x="6172200" y="1417320"/>
            <a:ext cx="5486400" cy="571500"/>
          </a:xfrm>
          <a:prstGeom prst="rect">
            <a:avLst/>
          </a:prstGeom>
          <a:noFill/>
          <a:ln/>
        </p:spPr>
        <p:txBody>
          <a:bodyPr wrap="square" lIns="0" tIns="0" rIns="0" bIns="0" rtlCol="0" anchor="t"/>
          <a:lstStyle/>
          <a:p>
            <a:pPr marL="0" indent="0">
              <a:buNone/>
            </a:pPr>
            <a:r>
              <a:rPr lang="en-US" sz="3600" b="1" dirty="0">
                <a:solidFill>
                  <a:schemeClr val="accent1"/>
                </a:solidFill>
                <a:latin typeface="+mj-lt" pitchFamily="34" charset="0"/>
                <a:ea typeface="+mj-lt" pitchFamily="34" charset="-122"/>
                <a:cs typeface="+mj-lt" pitchFamily="34" charset="-120"/>
              </a:rPr>
              <a:t>−0.8 bpm</a:t>
            </a:r>
            <a:endParaRPr lang="en-US" sz="3600" dirty="0"/>
          </a:p>
        </p:txBody>
      </p:sp>
      <p:sp>
        <p:nvSpPr>
          <p:cNvPr id="6" name="Text 3"/>
          <p:cNvSpPr txBox="1"/>
          <p:nvPr/>
        </p:nvSpPr>
        <p:spPr>
          <a:xfrm>
            <a:off x="6172200" y="2007108"/>
            <a:ext cx="5486400" cy="502920"/>
          </a:xfrm>
          <a:prstGeom prst="rect">
            <a:avLst/>
          </a:prstGeom>
          <a:noFill/>
          <a:ln/>
        </p:spPr>
        <p:txBody>
          <a:bodyPr wrap="square" lIns="0" tIns="0" rIns="0" bIns="0" rtlCol="0" anchor="t"/>
          <a:lstStyle/>
          <a:p>
            <a:pPr marL="0" indent="0">
              <a:buNone/>
            </a:pPr>
            <a:r>
              <a:rPr lang="en-US" sz="1400" dirty="0">
                <a:solidFill>
                  <a:schemeClr val="tx2"/>
                </a:solidFill>
              </a:rPr>
              <a:t>Average bias: almost none</a:t>
            </a:r>
            <a:endParaRPr lang="en-US" sz="1400" dirty="0"/>
          </a:p>
        </p:txBody>
      </p:sp>
      <p:sp>
        <p:nvSpPr>
          <p:cNvPr id="7" name="Text 4"/>
          <p:cNvSpPr txBox="1"/>
          <p:nvPr/>
        </p:nvSpPr>
        <p:spPr>
          <a:xfrm>
            <a:off x="6172200" y="2624328"/>
            <a:ext cx="5486400" cy="571500"/>
          </a:xfrm>
          <a:prstGeom prst="rect">
            <a:avLst/>
          </a:prstGeom>
          <a:noFill/>
          <a:ln/>
        </p:spPr>
        <p:txBody>
          <a:bodyPr wrap="square" lIns="0" tIns="0" rIns="0" bIns="0" rtlCol="0" anchor="t"/>
          <a:lstStyle/>
          <a:p>
            <a:pPr marL="0" indent="0">
              <a:buNone/>
            </a:pPr>
            <a:r>
              <a:rPr lang="en-US" sz="3600" b="1" dirty="0">
                <a:solidFill>
                  <a:schemeClr val="tx1"/>
                </a:solidFill>
                <a:latin typeface="+mj-lt" pitchFamily="34" charset="0"/>
                <a:ea typeface="+mj-lt" pitchFamily="34" charset="-122"/>
                <a:cs typeface="+mj-lt" pitchFamily="34" charset="-120"/>
              </a:rPr>
              <a:t>±13.3 bpm</a:t>
            </a:r>
            <a:endParaRPr lang="en-US" sz="3600" dirty="0"/>
          </a:p>
        </p:txBody>
      </p:sp>
      <p:sp>
        <p:nvSpPr>
          <p:cNvPr id="8" name="Text 5"/>
          <p:cNvSpPr txBox="1"/>
          <p:nvPr/>
        </p:nvSpPr>
        <p:spPr>
          <a:xfrm>
            <a:off x="6172200" y="3214116"/>
            <a:ext cx="5486400" cy="502920"/>
          </a:xfrm>
          <a:prstGeom prst="rect">
            <a:avLst/>
          </a:prstGeom>
          <a:noFill/>
          <a:ln/>
        </p:spPr>
        <p:txBody>
          <a:bodyPr wrap="square" lIns="0" tIns="0" rIns="0" bIns="0" rtlCol="0" anchor="t"/>
          <a:lstStyle/>
          <a:p>
            <a:pPr marL="0" indent="0">
              <a:buNone/>
            </a:pPr>
            <a:r>
              <a:rPr lang="en-US" sz="1400" dirty="0">
                <a:solidFill>
                  <a:schemeClr val="tx2"/>
                </a:solidFill>
              </a:rPr>
              <a:t>95% limits, widened by a few outliers</a:t>
            </a:r>
            <a:endParaRPr lang="en-US" sz="1400" dirty="0"/>
          </a:p>
        </p:txBody>
      </p:sp>
      <p:sp>
        <p:nvSpPr>
          <p:cNvPr id="9" name="Text 6"/>
          <p:cNvSpPr txBox="1"/>
          <p:nvPr/>
        </p:nvSpPr>
        <p:spPr>
          <a:xfrm>
            <a:off x="6172200" y="3831336"/>
            <a:ext cx="5486400" cy="571500"/>
          </a:xfrm>
          <a:prstGeom prst="rect">
            <a:avLst/>
          </a:prstGeom>
          <a:noFill/>
          <a:ln/>
        </p:spPr>
        <p:txBody>
          <a:bodyPr wrap="square" lIns="0" tIns="0" rIns="0" bIns="0" rtlCol="0" anchor="t"/>
          <a:lstStyle/>
          <a:p>
            <a:pPr marL="0" indent="0">
              <a:buNone/>
            </a:pPr>
            <a:r>
              <a:rPr lang="en-US" sz="3600" b="1" dirty="0">
                <a:solidFill>
                  <a:schemeClr val="tx1"/>
                </a:solidFill>
                <a:latin typeface="+mj-lt" pitchFamily="34" charset="0"/>
                <a:ea typeface="+mj-lt" pitchFamily="34" charset="-122"/>
                <a:cs typeface="+mj-lt" pitchFamily="34" charset="-120"/>
              </a:rPr>
              <a:t>6.80 vs 1.80</a:t>
            </a:r>
            <a:endParaRPr lang="en-US" sz="3600" dirty="0"/>
          </a:p>
        </p:txBody>
      </p:sp>
      <p:sp>
        <p:nvSpPr>
          <p:cNvPr id="10" name="Text 7"/>
          <p:cNvSpPr txBox="1"/>
          <p:nvPr/>
        </p:nvSpPr>
        <p:spPr>
          <a:xfrm>
            <a:off x="6172200" y="4421124"/>
            <a:ext cx="5486400" cy="502920"/>
          </a:xfrm>
          <a:prstGeom prst="rect">
            <a:avLst/>
          </a:prstGeom>
          <a:noFill/>
          <a:ln/>
        </p:spPr>
        <p:txBody>
          <a:bodyPr wrap="square" lIns="0" tIns="0" rIns="0" bIns="0" rtlCol="0" anchor="t"/>
          <a:lstStyle/>
          <a:p>
            <a:pPr marL="0" indent="0">
              <a:buNone/>
            </a:pPr>
            <a:r>
              <a:rPr lang="en-US" sz="1400" dirty="0">
                <a:solidFill>
                  <a:schemeClr val="tx2"/>
                </a:solidFill>
              </a:rPr>
              <a:t>RMSE much larger than MAE: the error sits in a few windows</a:t>
            </a:r>
            <a:endParaRPr lang="en-US" sz="1400" dirty="0"/>
          </a:p>
        </p:txBody>
      </p:sp>
      <p:sp>
        <p:nvSpPr>
          <p:cNvPr id="11" name="Failure note"/>
          <p:cNvSpPr/>
          <p:nvPr/>
        </p:nvSpPr>
        <p:spPr>
          <a:xfrm>
            <a:off x="6172200" y="5074920"/>
            <a:ext cx="5468112" cy="896112"/>
          </a:xfrm>
          <a:prstGeom prst="roundRect">
            <a:avLst>
              <a:gd name="adj" fmla="val 18367"/>
            </a:avLst>
          </a:prstGeom>
          <a:solidFill>
            <a:schemeClr val="bg2"/>
          </a:solidFill>
          <a:ln/>
        </p:spPr>
        <p:txBody>
          <a:bodyPr/>
          <a:lstStyle/>
          <a:p>
            <a:endParaRPr lang="en-US"/>
          </a:p>
        </p:txBody>
      </p:sp>
      <p:sp>
        <p:nvSpPr>
          <p:cNvPr id="12" name="Text 9"/>
          <p:cNvSpPr txBox="1"/>
          <p:nvPr/>
        </p:nvSpPr>
        <p:spPr>
          <a:xfrm>
            <a:off x="6446520" y="5193792"/>
            <a:ext cx="4983480" cy="777240"/>
          </a:xfrm>
          <a:prstGeom prst="rect">
            <a:avLst/>
          </a:prstGeom>
          <a:noFill/>
          <a:ln/>
        </p:spPr>
        <p:txBody>
          <a:bodyPr wrap="square" lIns="0" tIns="0" rIns="0" bIns="0" rtlCol="0" anchor="t"/>
          <a:lstStyle/>
          <a:p>
            <a:pPr marL="0" indent="0">
              <a:buNone/>
            </a:pPr>
            <a:r>
              <a:rPr lang="en-US" sz="1400" dirty="0">
                <a:solidFill>
                  <a:schemeClr val="tx1"/>
                </a:solidFill>
              </a:rPr>
              <a:t>Typical failure: for one window the FFT locks onto the wrong frequency, like the dip to 76 bpm on subject 1 (slide 12).</a:t>
            </a:r>
            <a:endParaRPr lang="en-US" sz="1400" dirty="0"/>
          </a:p>
        </p:txBody>
      </p:sp>
      <p:sp>
        <p:nvSpPr>
          <p:cNvPr id="25" name="Slide Number Placeholder 0"/>
          <p:cNvSpPr>
            <a:spLocks noGrp="1"/>
          </p:cNvSpPr>
          <p:nvPr>
            <p:ph type="sldNum" sz="quarter" idx="4294967295"/>
          </p:nvPr>
        </p:nvSpPr>
        <p:spPr>
          <a:xfrm>
            <a:off x="11091672" y="6336792"/>
            <a:ext cx="54864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a:spLocks noGrp="1"/>
          </p:cNvSpPr>
          <p:nvPr>
            <p:ph type="title" idx="103" hasCustomPrompt="1"/>
          </p:nvPr>
        </p:nvSpPr>
        <p:spPr>
          <a:xfrm>
            <a:off x="548640" y="384048"/>
            <a:ext cx="11091672" cy="731520"/>
          </a:xfrm>
          <a:prstGeom prst="rect">
            <a:avLst/>
          </a:prstGeom>
          <a:noFill/>
          <a:ln/>
        </p:spPr>
        <p:txBody>
          <a:bodyPr wrap="square" lIns="0" tIns="0" rIns="0" bIns="0" rtlCol="0" anchor="ctr"/>
          <a:lstStyle/>
          <a:p>
            <a:pPr marL="0" indent="0" algn="l">
              <a:buNone/>
            </a:pPr>
            <a:r>
              <a:rPr lang="en-US" sz="3600" b="1" dirty="0">
                <a:solidFill>
                  <a:schemeClr val="tx1"/>
                </a:solidFill>
              </a:rPr>
              <a:t>RQ2: real data transfers, synthetic does not</a:t>
            </a:r>
            <a:endParaRPr lang="en-US" sz="3600" dirty="0"/>
          </a:p>
        </p:txBody>
      </p:sp>
      <p:graphicFrame>
        <p:nvGraphicFramePr>
          <p:cNvPr id="3" name="Transfer chart"/>
          <p:cNvGraphicFramePr/>
          <p:nvPr/>
        </p:nvGraphicFramePr>
        <p:xfrm>
          <a:off x="548640" y="1325880"/>
          <a:ext cx="6858000" cy="480060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7863840" y="1417320"/>
            <a:ext cx="1828800" cy="698500"/>
          </a:xfrm>
          <a:prstGeom prst="rect">
            <a:avLst/>
          </a:prstGeom>
          <a:noFill/>
          <a:ln/>
        </p:spPr>
        <p:txBody>
          <a:bodyPr wrap="square" lIns="0" tIns="0" rIns="0" bIns="0" rtlCol="0" anchor="t"/>
          <a:lstStyle/>
          <a:p>
            <a:pPr marL="0" indent="0">
              <a:buNone/>
            </a:pPr>
            <a:r>
              <a:rPr lang="en-US" sz="4400" b="1" dirty="0">
                <a:solidFill>
                  <a:schemeClr val="accent2"/>
                </a:solidFill>
                <a:latin typeface="+mj-lt" pitchFamily="34" charset="0"/>
                <a:ea typeface="+mj-lt" pitchFamily="34" charset="-122"/>
                <a:cs typeface="+mj-lt" pitchFamily="34" charset="-120"/>
              </a:rPr>
              <a:t>1.80</a:t>
            </a:r>
            <a:endParaRPr lang="en-US" sz="4400" dirty="0"/>
          </a:p>
        </p:txBody>
      </p:sp>
      <p:sp>
        <p:nvSpPr>
          <p:cNvPr id="5" name="Text 2"/>
          <p:cNvSpPr txBox="1"/>
          <p:nvPr/>
        </p:nvSpPr>
        <p:spPr>
          <a:xfrm>
            <a:off x="7863840" y="2134108"/>
            <a:ext cx="1828800" cy="502920"/>
          </a:xfrm>
          <a:prstGeom prst="rect">
            <a:avLst/>
          </a:prstGeom>
          <a:noFill/>
          <a:ln/>
        </p:spPr>
        <p:txBody>
          <a:bodyPr wrap="square" lIns="0" tIns="0" rIns="0" bIns="0" rtlCol="0" anchor="t"/>
          <a:lstStyle/>
          <a:p>
            <a:pPr marL="0" indent="0">
              <a:buNone/>
            </a:pPr>
            <a:r>
              <a:rPr lang="en-US" sz="1400" dirty="0">
                <a:solidFill>
                  <a:schemeClr val="tx2"/>
                </a:solidFill>
              </a:rPr>
              <a:t>trained on real video</a:t>
            </a:r>
            <a:endParaRPr lang="en-US" sz="1400" dirty="0"/>
          </a:p>
        </p:txBody>
      </p:sp>
      <p:sp>
        <p:nvSpPr>
          <p:cNvPr id="6" name="Text 3"/>
          <p:cNvSpPr txBox="1"/>
          <p:nvPr/>
        </p:nvSpPr>
        <p:spPr>
          <a:xfrm>
            <a:off x="9784080" y="1417320"/>
            <a:ext cx="1828800" cy="698500"/>
          </a:xfrm>
          <a:prstGeom prst="rect">
            <a:avLst/>
          </a:prstGeom>
          <a:noFill/>
          <a:ln/>
        </p:spPr>
        <p:txBody>
          <a:bodyPr wrap="square" lIns="0" tIns="0" rIns="0" bIns="0" rtlCol="0" anchor="t"/>
          <a:lstStyle/>
          <a:p>
            <a:pPr marL="0" indent="0">
              <a:buNone/>
            </a:pPr>
            <a:r>
              <a:rPr lang="en-US" sz="4400" b="1" dirty="0">
                <a:solidFill>
                  <a:schemeClr val="accent1"/>
                </a:solidFill>
                <a:latin typeface="+mj-lt" pitchFamily="34" charset="0"/>
                <a:ea typeface="+mj-lt" pitchFamily="34" charset="-122"/>
                <a:cs typeface="+mj-lt" pitchFamily="34" charset="-120"/>
              </a:rPr>
              <a:t>12.83</a:t>
            </a:r>
            <a:endParaRPr lang="en-US" sz="4400" dirty="0"/>
          </a:p>
        </p:txBody>
      </p:sp>
      <p:sp>
        <p:nvSpPr>
          <p:cNvPr id="7" name="Text 4"/>
          <p:cNvSpPr txBox="1"/>
          <p:nvPr/>
        </p:nvSpPr>
        <p:spPr>
          <a:xfrm>
            <a:off x="9784080" y="2134108"/>
            <a:ext cx="1828800" cy="502920"/>
          </a:xfrm>
          <a:prstGeom prst="rect">
            <a:avLst/>
          </a:prstGeom>
          <a:noFill/>
          <a:ln/>
        </p:spPr>
        <p:txBody>
          <a:bodyPr wrap="square" lIns="0" tIns="0" rIns="0" bIns="0" rtlCol="0" anchor="t"/>
          <a:lstStyle/>
          <a:p>
            <a:pPr marL="0" indent="0">
              <a:buNone/>
            </a:pPr>
            <a:r>
              <a:rPr lang="en-US" sz="1400" dirty="0">
                <a:solidFill>
                  <a:schemeClr val="tx2"/>
                </a:solidFill>
              </a:rPr>
              <a:t>trained on synthetic</a:t>
            </a:r>
            <a:endParaRPr lang="en-US" sz="1400" dirty="0"/>
          </a:p>
        </p:txBody>
      </p:sp>
      <p:sp>
        <p:nvSpPr>
          <p:cNvPr id="8" name="Text 5"/>
          <p:cNvSpPr txBox="1"/>
          <p:nvPr/>
        </p:nvSpPr>
        <p:spPr>
          <a:xfrm>
            <a:off x="7863840" y="2697480"/>
            <a:ext cx="3776472" cy="868680"/>
          </a:xfrm>
          <a:prstGeom prst="rect">
            <a:avLst/>
          </a:prstGeom>
          <a:noFill/>
          <a:ln/>
        </p:spPr>
        <p:txBody>
          <a:bodyPr wrap="square" lIns="0" tIns="0" rIns="0" bIns="0" rtlCol="0" anchor="t"/>
          <a:lstStyle/>
          <a:p>
            <a:pPr marL="0" indent="0">
              <a:buNone/>
            </a:pPr>
            <a:r>
              <a:rPr lang="en-US" sz="1500" dirty="0">
                <a:solidFill>
                  <a:schemeClr val="tx2"/>
                </a:solidFill>
              </a:rPr>
              <a:t>The gap stays under every scoring method, including the toolbox’s own, so it is not a scoring mistake.</a:t>
            </a:r>
            <a:endParaRPr lang="en-US" sz="1500" dirty="0"/>
          </a:p>
        </p:txBody>
      </p:sp>
      <p:sp>
        <p:nvSpPr>
          <p:cNvPr id="9" name="Fine-tune card"/>
          <p:cNvSpPr/>
          <p:nvPr/>
        </p:nvSpPr>
        <p:spPr>
          <a:xfrm>
            <a:off x="7863840" y="3794760"/>
            <a:ext cx="3776472" cy="2286000"/>
          </a:xfrm>
          <a:prstGeom prst="roundRect">
            <a:avLst>
              <a:gd name="adj" fmla="val 7200"/>
            </a:avLst>
          </a:prstGeom>
          <a:solidFill>
            <a:schemeClr val="bg2"/>
          </a:solidFill>
          <a:ln/>
        </p:spPr>
        <p:txBody>
          <a:bodyPr/>
          <a:lstStyle/>
          <a:p>
            <a:endParaRPr lang="en-US"/>
          </a:p>
        </p:txBody>
      </p:sp>
      <p:sp>
        <p:nvSpPr>
          <p:cNvPr id="10" name="Text 7"/>
          <p:cNvSpPr txBox="1"/>
          <p:nvPr/>
        </p:nvSpPr>
        <p:spPr>
          <a:xfrm>
            <a:off x="8138160" y="4005072"/>
            <a:ext cx="3291840" cy="365760"/>
          </a:xfrm>
          <a:prstGeom prst="rect">
            <a:avLst/>
          </a:prstGeom>
          <a:noFill/>
          <a:ln/>
        </p:spPr>
        <p:txBody>
          <a:bodyPr wrap="square" lIns="0" tIns="0" rIns="0" bIns="0" rtlCol="0" anchor="t"/>
          <a:lstStyle/>
          <a:p>
            <a:pPr marL="0" indent="0">
              <a:buNone/>
            </a:pPr>
            <a:r>
              <a:rPr lang="en-US" sz="1700" b="1" dirty="0">
                <a:solidFill>
                  <a:schemeClr val="tx1"/>
                </a:solidFill>
              </a:rPr>
              <a:t>Fine-tuning on UBFC</a:t>
            </a:r>
            <a:endParaRPr lang="en-US" sz="1700" dirty="0"/>
          </a:p>
        </p:txBody>
      </p:sp>
      <p:sp>
        <p:nvSpPr>
          <p:cNvPr id="11" name="Text 8"/>
          <p:cNvSpPr txBox="1"/>
          <p:nvPr/>
        </p:nvSpPr>
        <p:spPr>
          <a:xfrm>
            <a:off x="8138160" y="4416552"/>
            <a:ext cx="3291840" cy="548640"/>
          </a:xfrm>
          <a:prstGeom prst="rect">
            <a:avLst/>
          </a:prstGeom>
          <a:noFill/>
          <a:ln/>
        </p:spPr>
        <p:txBody>
          <a:bodyPr wrap="square" lIns="0" tIns="0" rIns="0" bIns="0" rtlCol="0" anchor="t"/>
          <a:lstStyle/>
          <a:p>
            <a:pPr marL="0" indent="0">
              <a:buNone/>
            </a:pPr>
            <a:r>
              <a:rPr lang="en-US" sz="3000" b="1" dirty="0">
                <a:solidFill>
                  <a:schemeClr val="tx1"/>
                </a:solidFill>
                <a:latin typeface="+mj-lt" pitchFamily="34" charset="0"/>
                <a:ea typeface="+mj-lt" pitchFamily="34" charset="-122"/>
                <a:cs typeface="+mj-lt" pitchFamily="34" charset="-120"/>
              </a:rPr>
              <a:t>1.60 → 1.58 bpm</a:t>
            </a:r>
            <a:endParaRPr lang="en-US" sz="3000" dirty="0"/>
          </a:p>
        </p:txBody>
      </p:sp>
      <p:sp>
        <p:nvSpPr>
          <p:cNvPr id="12" name="Text 9"/>
          <p:cNvSpPr txBox="1"/>
          <p:nvPr/>
        </p:nvSpPr>
        <p:spPr>
          <a:xfrm>
            <a:off x="8138160" y="5029200"/>
            <a:ext cx="3291840" cy="914400"/>
          </a:xfrm>
          <a:prstGeom prst="rect">
            <a:avLst/>
          </a:prstGeom>
          <a:noFill/>
          <a:ln/>
        </p:spPr>
        <p:txBody>
          <a:bodyPr wrap="square" lIns="0" tIns="0" rIns="0" bIns="0" rtlCol="0" anchor="t"/>
          <a:lstStyle/>
          <a:p>
            <a:pPr marL="0" indent="0">
              <a:buNone/>
            </a:pPr>
            <a:r>
              <a:rPr lang="en-US" sz="1400" dirty="0">
                <a:solidFill>
                  <a:schemeClr val="tx2"/>
                </a:solidFill>
              </a:rPr>
              <a:t>30 / 6 / 6 people, split by person. Within noise, so the released weights stay in use.</a:t>
            </a:r>
            <a:endParaRPr lang="en-US" sz="1400" dirty="0"/>
          </a:p>
        </p:txBody>
      </p:sp>
      <p:sp>
        <p:nvSpPr>
          <p:cNvPr id="25" name="Slide Number Placeholder 0"/>
          <p:cNvSpPr>
            <a:spLocks noGrp="1"/>
          </p:cNvSpPr>
          <p:nvPr>
            <p:ph type="sldNum" sz="quarter" idx="4294967295"/>
          </p:nvPr>
        </p:nvSpPr>
        <p:spPr>
          <a:xfrm>
            <a:off x="11091672" y="6336792"/>
            <a:ext cx="54864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a:spLocks noGrp="1"/>
          </p:cNvSpPr>
          <p:nvPr>
            <p:ph type="title" idx="103" hasCustomPrompt="1"/>
          </p:nvPr>
        </p:nvSpPr>
        <p:spPr>
          <a:xfrm>
            <a:off x="548640" y="384048"/>
            <a:ext cx="11091672" cy="731520"/>
          </a:xfrm>
          <a:prstGeom prst="rect">
            <a:avLst/>
          </a:prstGeom>
          <a:noFill/>
          <a:ln/>
        </p:spPr>
        <p:txBody>
          <a:bodyPr wrap="square" lIns="0" tIns="0" rIns="0" bIns="0" rtlCol="0" anchor="ctr"/>
          <a:lstStyle/>
          <a:p>
            <a:pPr marL="0" indent="0" algn="l">
              <a:buNone/>
            </a:pPr>
            <a:r>
              <a:rPr lang="en-US" sz="3600" b="1" dirty="0">
                <a:solidFill>
                  <a:schemeClr val="tx1"/>
                </a:solidFill>
              </a:rPr>
              <a:t>PulseCam: the web app</a:t>
            </a:r>
            <a:endParaRPr lang="en-US" sz="3600" dirty="0"/>
          </a:p>
        </p:txBody>
      </p:sp>
      <p:pic>
        <p:nvPicPr>
          <p:cNvPr id="3" name="Results tab screenshot" descr="C:\Users\ASUS\AppData\Local\Temp\claude\D--PulseCam\15b79863-0d9b-43e5-86fa-f970749171f7\scratchpad\deck\img\results.png"/>
          <p:cNvPicPr>
            <a:picLocks noChangeAspect="1"/>
          </p:cNvPicPr>
          <p:nvPr/>
        </p:nvPicPr>
        <p:blipFill>
          <a:blip r:embed="rId3"/>
          <a:stretch>
            <a:fillRect/>
          </a:stretch>
        </p:blipFill>
        <p:spPr>
          <a:xfrm>
            <a:off x="548640" y="1371600"/>
            <a:ext cx="5989320" cy="3449758"/>
          </a:xfrm>
          <a:prstGeom prst="rect">
            <a:avLst/>
          </a:prstGeom>
          <a:effectLst>
            <a:outerShdw blurRad="203200" dist="63500" dir="5400000" algn="bl" rotWithShape="0">
              <a:srgbClr val="1D3557">
                <a:alpha val="16000"/>
              </a:srgbClr>
            </a:outerShdw>
          </a:effectLst>
        </p:spPr>
      </p:pic>
      <p:sp>
        <p:nvSpPr>
          <p:cNvPr id="4" name="Text 1"/>
          <p:cNvSpPr txBox="1"/>
          <p:nvPr/>
        </p:nvSpPr>
        <p:spPr>
          <a:xfrm>
            <a:off x="548640" y="4956048"/>
            <a:ext cx="5989320" cy="320040"/>
          </a:xfrm>
          <a:prstGeom prst="rect">
            <a:avLst/>
          </a:prstGeom>
          <a:noFill/>
          <a:ln/>
        </p:spPr>
        <p:txBody>
          <a:bodyPr wrap="square" lIns="0" tIns="0" rIns="0" bIns="0" rtlCol="0" anchor="t"/>
          <a:lstStyle/>
          <a:p>
            <a:pPr marL="0" indent="0">
              <a:buNone/>
            </a:pPr>
            <a:r>
              <a:rPr lang="en-US" sz="1200" i="1" dirty="0">
                <a:solidFill>
                  <a:schemeClr val="tx2"/>
                </a:solidFill>
              </a:rPr>
              <a:t>Results tab: the E1 and E2 numbers, charts and Bland-Altman plots</a:t>
            </a:r>
            <a:endParaRPr lang="en-US" sz="1200" dirty="0"/>
          </a:p>
        </p:txBody>
      </p:sp>
      <p:sp>
        <p:nvSpPr>
          <p:cNvPr id="5" name="Shape 2"/>
          <p:cNvSpPr/>
          <p:nvPr/>
        </p:nvSpPr>
        <p:spPr>
          <a:xfrm>
            <a:off x="7040880" y="1417320"/>
            <a:ext cx="640080" cy="640080"/>
          </a:xfrm>
          <a:prstGeom prst="ellipse">
            <a:avLst/>
          </a:prstGeom>
          <a:solidFill>
            <a:schemeClr val="accent3"/>
          </a:solidFill>
          <a:ln/>
        </p:spPr>
        <p:txBody>
          <a:bodyPr/>
          <a:lstStyle/>
          <a:p>
            <a:endParaRPr lang="en-US"/>
          </a:p>
        </p:txBody>
      </p:sp>
      <p:pic>
        <p:nvPicPr>
          <p:cNvPr id="6" name="Image 1" descr="preencoded.png"/>
          <p:cNvPicPr>
            <a:picLocks noChangeAspect="1"/>
          </p:cNvPicPr>
          <p:nvPr/>
        </p:nvPicPr>
        <p:blipFill>
          <a:blip r:embed="rId4"/>
          <a:stretch>
            <a:fillRect/>
          </a:stretch>
        </p:blipFill>
        <p:spPr>
          <a:xfrm>
            <a:off x="7200900" y="1577340"/>
            <a:ext cx="320040" cy="320040"/>
          </a:xfrm>
          <a:prstGeom prst="rect">
            <a:avLst/>
          </a:prstGeom>
        </p:spPr>
      </p:pic>
      <p:sp>
        <p:nvSpPr>
          <p:cNvPr id="7" name="Text 3"/>
          <p:cNvSpPr txBox="1"/>
          <p:nvPr/>
        </p:nvSpPr>
        <p:spPr>
          <a:xfrm>
            <a:off x="7909560" y="1417320"/>
            <a:ext cx="3657600" cy="347472"/>
          </a:xfrm>
          <a:prstGeom prst="rect">
            <a:avLst/>
          </a:prstGeom>
          <a:noFill/>
          <a:ln/>
        </p:spPr>
        <p:txBody>
          <a:bodyPr wrap="square" lIns="0" tIns="0" rIns="0" bIns="0" rtlCol="0" anchor="t"/>
          <a:lstStyle/>
          <a:p>
            <a:pPr marL="0" indent="0">
              <a:buNone/>
            </a:pPr>
            <a:r>
              <a:rPr lang="en-US" sz="1800" b="1" dirty="0">
                <a:solidFill>
                  <a:schemeClr val="tx1"/>
                </a:solidFill>
              </a:rPr>
              <a:t>Go live</a:t>
            </a:r>
            <a:endParaRPr lang="en-US" sz="1800" dirty="0"/>
          </a:p>
        </p:txBody>
      </p:sp>
      <p:sp>
        <p:nvSpPr>
          <p:cNvPr id="8" name="Text 4"/>
          <p:cNvSpPr txBox="1"/>
          <p:nvPr/>
        </p:nvSpPr>
        <p:spPr>
          <a:xfrm>
            <a:off x="7909560" y="1764792"/>
            <a:ext cx="3657600" cy="365760"/>
          </a:xfrm>
          <a:prstGeom prst="rect">
            <a:avLst/>
          </a:prstGeom>
          <a:noFill/>
          <a:ln/>
        </p:spPr>
        <p:txBody>
          <a:bodyPr wrap="square" lIns="0" tIns="0" rIns="0" bIns="0" rtlCol="0" anchor="t"/>
          <a:lstStyle/>
          <a:p>
            <a:pPr marL="0" indent="0">
              <a:buNone/>
            </a:pPr>
            <a:r>
              <a:rPr lang="en-US" sz="1400" dirty="0">
                <a:solidFill>
                  <a:schemeClr val="tx2"/>
                </a:solidFill>
              </a:rPr>
              <a:t>A 30-second measurement from the webcam</a:t>
            </a:r>
            <a:endParaRPr lang="en-US" sz="1400" dirty="0"/>
          </a:p>
        </p:txBody>
      </p:sp>
      <p:sp>
        <p:nvSpPr>
          <p:cNvPr id="9" name="Shape 5"/>
          <p:cNvSpPr/>
          <p:nvPr/>
        </p:nvSpPr>
        <p:spPr>
          <a:xfrm>
            <a:off x="7040880" y="2395728"/>
            <a:ext cx="640080" cy="640080"/>
          </a:xfrm>
          <a:prstGeom prst="ellipse">
            <a:avLst/>
          </a:prstGeom>
          <a:solidFill>
            <a:schemeClr val="accent3"/>
          </a:solidFill>
          <a:ln/>
        </p:spPr>
        <p:txBody>
          <a:bodyPr/>
          <a:lstStyle/>
          <a:p>
            <a:endParaRPr lang="en-US"/>
          </a:p>
        </p:txBody>
      </p:sp>
      <p:pic>
        <p:nvPicPr>
          <p:cNvPr id="10" name="Image 2" descr="preencoded.png"/>
          <p:cNvPicPr>
            <a:picLocks noChangeAspect="1"/>
          </p:cNvPicPr>
          <p:nvPr/>
        </p:nvPicPr>
        <p:blipFill>
          <a:blip r:embed="rId5"/>
          <a:stretch>
            <a:fillRect/>
          </a:stretch>
        </p:blipFill>
        <p:spPr>
          <a:xfrm>
            <a:off x="7200900" y="2555748"/>
            <a:ext cx="320040" cy="320040"/>
          </a:xfrm>
          <a:prstGeom prst="rect">
            <a:avLst/>
          </a:prstGeom>
        </p:spPr>
      </p:pic>
      <p:sp>
        <p:nvSpPr>
          <p:cNvPr id="11" name="Text 6"/>
          <p:cNvSpPr txBox="1"/>
          <p:nvPr/>
        </p:nvSpPr>
        <p:spPr>
          <a:xfrm>
            <a:off x="7909560" y="2395728"/>
            <a:ext cx="3657600" cy="347472"/>
          </a:xfrm>
          <a:prstGeom prst="rect">
            <a:avLst/>
          </a:prstGeom>
          <a:noFill/>
          <a:ln/>
        </p:spPr>
        <p:txBody>
          <a:bodyPr wrap="square" lIns="0" tIns="0" rIns="0" bIns="0" rtlCol="0" anchor="t"/>
          <a:lstStyle/>
          <a:p>
            <a:pPr marL="0" indent="0">
              <a:buNone/>
            </a:pPr>
            <a:r>
              <a:rPr lang="en-US" sz="1800" b="1" dirty="0">
                <a:solidFill>
                  <a:schemeClr val="tx1"/>
                </a:solidFill>
              </a:rPr>
              <a:t>Upload video</a:t>
            </a:r>
            <a:endParaRPr lang="en-US" sz="1800" dirty="0"/>
          </a:p>
        </p:txBody>
      </p:sp>
      <p:sp>
        <p:nvSpPr>
          <p:cNvPr id="12" name="Text 7"/>
          <p:cNvSpPr txBox="1"/>
          <p:nvPr/>
        </p:nvSpPr>
        <p:spPr>
          <a:xfrm>
            <a:off x="7909560" y="2743200"/>
            <a:ext cx="3657600" cy="365760"/>
          </a:xfrm>
          <a:prstGeom prst="rect">
            <a:avLst/>
          </a:prstGeom>
          <a:noFill/>
          <a:ln/>
        </p:spPr>
        <p:txBody>
          <a:bodyPr wrap="square" lIns="0" tIns="0" rIns="0" bIns="0" rtlCol="0" anchor="t"/>
          <a:lstStyle/>
          <a:p>
            <a:pPr marL="0" indent="0">
              <a:buNone/>
            </a:pPr>
            <a:r>
              <a:rPr lang="en-US" sz="1400" dirty="0">
                <a:solidFill>
                  <a:schemeClr val="tx2"/>
                </a:solidFill>
              </a:rPr>
              <a:t>Analyse a recorded clip; the file is deleted afterwards</a:t>
            </a:r>
            <a:endParaRPr lang="en-US" sz="1400" dirty="0"/>
          </a:p>
        </p:txBody>
      </p:sp>
      <p:sp>
        <p:nvSpPr>
          <p:cNvPr id="13" name="Shape 8"/>
          <p:cNvSpPr/>
          <p:nvPr/>
        </p:nvSpPr>
        <p:spPr>
          <a:xfrm>
            <a:off x="7040880" y="3374136"/>
            <a:ext cx="640080" cy="640080"/>
          </a:xfrm>
          <a:prstGeom prst="ellipse">
            <a:avLst/>
          </a:prstGeom>
          <a:solidFill>
            <a:schemeClr val="accent3"/>
          </a:solidFill>
          <a:ln/>
        </p:spPr>
        <p:txBody>
          <a:bodyPr/>
          <a:lstStyle/>
          <a:p>
            <a:endParaRPr lang="en-US"/>
          </a:p>
        </p:txBody>
      </p:sp>
      <p:pic>
        <p:nvPicPr>
          <p:cNvPr id="14" name="Image 3" descr="preencoded.png"/>
          <p:cNvPicPr>
            <a:picLocks noChangeAspect="1"/>
          </p:cNvPicPr>
          <p:nvPr/>
        </p:nvPicPr>
        <p:blipFill>
          <a:blip r:embed="rId6"/>
          <a:stretch>
            <a:fillRect/>
          </a:stretch>
        </p:blipFill>
        <p:spPr>
          <a:xfrm>
            <a:off x="7200900" y="3534156"/>
            <a:ext cx="320040" cy="320040"/>
          </a:xfrm>
          <a:prstGeom prst="rect">
            <a:avLst/>
          </a:prstGeom>
        </p:spPr>
      </p:pic>
      <p:sp>
        <p:nvSpPr>
          <p:cNvPr id="15" name="Text 9"/>
          <p:cNvSpPr txBox="1"/>
          <p:nvPr/>
        </p:nvSpPr>
        <p:spPr>
          <a:xfrm>
            <a:off x="7909560" y="3374136"/>
            <a:ext cx="3657600" cy="347472"/>
          </a:xfrm>
          <a:prstGeom prst="rect">
            <a:avLst/>
          </a:prstGeom>
          <a:noFill/>
          <a:ln/>
        </p:spPr>
        <p:txBody>
          <a:bodyPr wrap="square" lIns="0" tIns="0" rIns="0" bIns="0" rtlCol="0" anchor="t"/>
          <a:lstStyle/>
          <a:p>
            <a:pPr marL="0" indent="0">
              <a:buNone/>
            </a:pPr>
            <a:r>
              <a:rPr lang="en-US" sz="1800" b="1" dirty="0">
                <a:solidFill>
                  <a:schemeClr val="tx1"/>
                </a:solidFill>
              </a:rPr>
              <a:t>Results</a:t>
            </a:r>
            <a:endParaRPr lang="en-US" sz="1800" dirty="0"/>
          </a:p>
        </p:txBody>
      </p:sp>
      <p:sp>
        <p:nvSpPr>
          <p:cNvPr id="16" name="Text 10"/>
          <p:cNvSpPr txBox="1"/>
          <p:nvPr/>
        </p:nvSpPr>
        <p:spPr>
          <a:xfrm>
            <a:off x="7909560" y="3721608"/>
            <a:ext cx="3657600" cy="365760"/>
          </a:xfrm>
          <a:prstGeom prst="rect">
            <a:avLst/>
          </a:prstGeom>
          <a:noFill/>
          <a:ln/>
        </p:spPr>
        <p:txBody>
          <a:bodyPr wrap="square" lIns="0" tIns="0" rIns="0" bIns="0" rtlCol="0" anchor="t"/>
          <a:lstStyle/>
          <a:p>
            <a:pPr marL="0" indent="0">
              <a:buNone/>
            </a:pPr>
            <a:r>
              <a:rPr lang="en-US" sz="1400" dirty="0">
                <a:solidFill>
                  <a:schemeClr val="tx2"/>
                </a:solidFill>
              </a:rPr>
              <a:t>Evaluation numbers, charts and plots</a:t>
            </a:r>
            <a:endParaRPr lang="en-US" sz="1400" dirty="0"/>
          </a:p>
        </p:txBody>
      </p:sp>
      <p:sp>
        <p:nvSpPr>
          <p:cNvPr id="17" name="Shape 11"/>
          <p:cNvSpPr/>
          <p:nvPr/>
        </p:nvSpPr>
        <p:spPr>
          <a:xfrm>
            <a:off x="7040880" y="4352544"/>
            <a:ext cx="640080" cy="640080"/>
          </a:xfrm>
          <a:prstGeom prst="ellipse">
            <a:avLst/>
          </a:prstGeom>
          <a:solidFill>
            <a:schemeClr val="accent3"/>
          </a:solidFill>
          <a:ln/>
        </p:spPr>
        <p:txBody>
          <a:bodyPr/>
          <a:lstStyle/>
          <a:p>
            <a:endParaRPr lang="en-US"/>
          </a:p>
        </p:txBody>
      </p:sp>
      <p:pic>
        <p:nvPicPr>
          <p:cNvPr id="18" name="Image 4" descr="preencoded.png"/>
          <p:cNvPicPr>
            <a:picLocks noChangeAspect="1"/>
          </p:cNvPicPr>
          <p:nvPr/>
        </p:nvPicPr>
        <p:blipFill>
          <a:blip r:embed="rId7"/>
          <a:stretch>
            <a:fillRect/>
          </a:stretch>
        </p:blipFill>
        <p:spPr>
          <a:xfrm>
            <a:off x="7200900" y="4512564"/>
            <a:ext cx="320040" cy="320040"/>
          </a:xfrm>
          <a:prstGeom prst="rect">
            <a:avLst/>
          </a:prstGeom>
        </p:spPr>
      </p:pic>
      <p:sp>
        <p:nvSpPr>
          <p:cNvPr id="19" name="Text 12"/>
          <p:cNvSpPr txBox="1"/>
          <p:nvPr/>
        </p:nvSpPr>
        <p:spPr>
          <a:xfrm>
            <a:off x="7909560" y="4352544"/>
            <a:ext cx="3657600" cy="347472"/>
          </a:xfrm>
          <a:prstGeom prst="rect">
            <a:avLst/>
          </a:prstGeom>
          <a:noFill/>
          <a:ln/>
        </p:spPr>
        <p:txBody>
          <a:bodyPr wrap="square" lIns="0" tIns="0" rIns="0" bIns="0" rtlCol="0" anchor="t"/>
          <a:lstStyle/>
          <a:p>
            <a:pPr marL="0" indent="0">
              <a:buNone/>
            </a:pPr>
            <a:r>
              <a:rPr lang="en-US" sz="1800" b="1" dirty="0">
                <a:solidFill>
                  <a:schemeClr val="tx1"/>
                </a:solidFill>
              </a:rPr>
              <a:t>Status</a:t>
            </a:r>
            <a:endParaRPr lang="en-US" sz="1800" dirty="0"/>
          </a:p>
        </p:txBody>
      </p:sp>
      <p:sp>
        <p:nvSpPr>
          <p:cNvPr id="20" name="Text 13"/>
          <p:cNvSpPr txBox="1"/>
          <p:nvPr/>
        </p:nvSpPr>
        <p:spPr>
          <a:xfrm>
            <a:off x="7909560" y="4700016"/>
            <a:ext cx="3657600" cy="365760"/>
          </a:xfrm>
          <a:prstGeom prst="rect">
            <a:avLst/>
          </a:prstGeom>
          <a:noFill/>
          <a:ln/>
        </p:spPr>
        <p:txBody>
          <a:bodyPr wrap="square" lIns="0" tIns="0" rIns="0" bIns="0" rtlCol="0" anchor="t"/>
          <a:lstStyle/>
          <a:p>
            <a:pPr marL="0" indent="0">
              <a:buNone/>
            </a:pPr>
            <a:r>
              <a:rPr lang="en-US" sz="1400" dirty="0">
                <a:solidFill>
                  <a:schemeClr val="tx2"/>
                </a:solidFill>
              </a:rPr>
              <a:t>Project checklist and progress</a:t>
            </a:r>
            <a:endParaRPr lang="en-US" sz="1400" dirty="0"/>
          </a:p>
        </p:txBody>
      </p:sp>
      <p:sp>
        <p:nvSpPr>
          <p:cNvPr id="21" name="Runs locally note"/>
          <p:cNvSpPr/>
          <p:nvPr/>
        </p:nvSpPr>
        <p:spPr>
          <a:xfrm>
            <a:off x="548640" y="5440680"/>
            <a:ext cx="11091672" cy="731520"/>
          </a:xfrm>
          <a:prstGeom prst="roundRect">
            <a:avLst>
              <a:gd name="adj" fmla="val 22500"/>
            </a:avLst>
          </a:prstGeom>
          <a:solidFill>
            <a:schemeClr val="bg2"/>
          </a:solidFill>
          <a:ln/>
        </p:spPr>
        <p:txBody>
          <a:bodyPr/>
          <a:lstStyle/>
          <a:p>
            <a:endParaRPr lang="en-US"/>
          </a:p>
        </p:txBody>
      </p:sp>
      <p:sp>
        <p:nvSpPr>
          <p:cNvPr id="22" name="Text 15"/>
          <p:cNvSpPr txBox="1"/>
          <p:nvPr/>
        </p:nvSpPr>
        <p:spPr>
          <a:xfrm>
            <a:off x="822960" y="5632704"/>
            <a:ext cx="10607040" cy="365760"/>
          </a:xfrm>
          <a:prstGeom prst="rect">
            <a:avLst/>
          </a:prstGeom>
          <a:noFill/>
          <a:ln/>
        </p:spPr>
        <p:txBody>
          <a:bodyPr wrap="square" lIns="0" tIns="0" rIns="0" bIns="0" rtlCol="0" anchor="t"/>
          <a:lstStyle/>
          <a:p>
            <a:pPr marL="0" indent="0">
              <a:buNone/>
            </a:pPr>
            <a:r>
              <a:rPr lang="en-US" sz="1500" b="1" dirty="0">
                <a:solidFill>
                  <a:schemeClr val="tx1"/>
                </a:solidFill>
              </a:rPr>
              <a:t>Runs on the laptop: a small Python server plus a web page. No cloud, works offline, faces never leave the machine.</a:t>
            </a:r>
            <a:endParaRPr lang="en-US" sz="1500" dirty="0"/>
          </a:p>
        </p:txBody>
      </p:sp>
      <p:sp>
        <p:nvSpPr>
          <p:cNvPr id="25" name="Slide Number Placeholder 0"/>
          <p:cNvSpPr>
            <a:spLocks noGrp="1"/>
          </p:cNvSpPr>
          <p:nvPr>
            <p:ph type="sldNum" sz="quarter" idx="4294967295"/>
          </p:nvPr>
        </p:nvSpPr>
        <p:spPr>
          <a:xfrm>
            <a:off x="11091672" y="6336792"/>
            <a:ext cx="54864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a:spLocks noGrp="1"/>
          </p:cNvSpPr>
          <p:nvPr>
            <p:ph type="title" idx="103" hasCustomPrompt="1"/>
          </p:nvPr>
        </p:nvSpPr>
        <p:spPr>
          <a:xfrm>
            <a:off x="548640" y="384048"/>
            <a:ext cx="11091672" cy="731520"/>
          </a:xfrm>
          <a:prstGeom prst="rect">
            <a:avLst/>
          </a:prstGeom>
          <a:noFill/>
          <a:ln/>
        </p:spPr>
        <p:txBody>
          <a:bodyPr wrap="square" lIns="0" tIns="0" rIns="0" bIns="0" rtlCol="0" anchor="ctr"/>
          <a:lstStyle/>
          <a:p>
            <a:pPr marL="0" indent="0" algn="l">
              <a:buNone/>
            </a:pPr>
            <a:r>
              <a:rPr lang="en-US" sz="3600" b="1" dirty="0">
                <a:solidFill>
                  <a:schemeClr val="tx1"/>
                </a:solidFill>
              </a:rPr>
              <a:t>Go live: a 30-second measurement</a:t>
            </a:r>
            <a:endParaRPr lang="en-US" sz="3600" dirty="0"/>
          </a:p>
        </p:txBody>
      </p:sp>
      <p:pic>
        <p:nvPicPr>
          <p:cNvPr id="3" name="Live measurement screenshot" descr="C:\Users\ASUS\AppData\Local\Temp\claude\D--PulseCam\15b79863-0d9b-43e5-86fa-f970749171f7\scratchpad\deck\img\live.png"/>
          <p:cNvPicPr>
            <a:picLocks noChangeAspect="1"/>
          </p:cNvPicPr>
          <p:nvPr/>
        </p:nvPicPr>
        <p:blipFill>
          <a:blip r:embed="rId3"/>
          <a:stretch>
            <a:fillRect/>
          </a:stretch>
        </p:blipFill>
        <p:spPr>
          <a:xfrm>
            <a:off x="548640" y="1371600"/>
            <a:ext cx="5440680" cy="2383487"/>
          </a:xfrm>
          <a:prstGeom prst="rect">
            <a:avLst/>
          </a:prstGeom>
          <a:effectLst>
            <a:outerShdw blurRad="203200" dist="63500" dir="5400000" algn="bl" rotWithShape="0">
              <a:srgbClr val="1D3557">
                <a:alpha val="16000"/>
              </a:srgbClr>
            </a:outerShdw>
          </a:effectLst>
        </p:spPr>
      </p:pic>
      <p:pic>
        <p:nvPicPr>
          <p:cNvPr id="4" name="Final reading screenshot" descr="C:\Users\ASUS\AppData\Local\Temp\claude\D--PulseCam\15b79863-0d9b-43e5-86fa-f970749171f7\scratchpad\deck\img\final.png"/>
          <p:cNvPicPr>
            <a:picLocks noChangeAspect="1"/>
          </p:cNvPicPr>
          <p:nvPr/>
        </p:nvPicPr>
        <p:blipFill>
          <a:blip r:embed="rId4"/>
          <a:stretch>
            <a:fillRect/>
          </a:stretch>
        </p:blipFill>
        <p:spPr>
          <a:xfrm>
            <a:off x="6199632" y="1371600"/>
            <a:ext cx="5440680" cy="2383487"/>
          </a:xfrm>
          <a:prstGeom prst="rect">
            <a:avLst/>
          </a:prstGeom>
          <a:effectLst>
            <a:outerShdw blurRad="203200" dist="63500" dir="5400000" algn="bl" rotWithShape="0">
              <a:srgbClr val="1D3557">
                <a:alpha val="16000"/>
              </a:srgbClr>
            </a:outerShdw>
          </a:effectLst>
        </p:spPr>
      </p:pic>
      <p:sp>
        <p:nvSpPr>
          <p:cNvPr id="5" name="Shape 1"/>
          <p:cNvSpPr/>
          <p:nvPr/>
        </p:nvSpPr>
        <p:spPr>
          <a:xfrm>
            <a:off x="548640" y="4041648"/>
            <a:ext cx="457200" cy="457200"/>
          </a:xfrm>
          <a:prstGeom prst="ellipse">
            <a:avLst/>
          </a:prstGeom>
          <a:solidFill>
            <a:schemeClr val="accent1"/>
          </a:solidFill>
          <a:ln/>
        </p:spPr>
        <p:txBody>
          <a:bodyPr/>
          <a:lstStyle/>
          <a:p>
            <a:endParaRPr lang="en-US"/>
          </a:p>
        </p:txBody>
      </p:sp>
      <p:sp>
        <p:nvSpPr>
          <p:cNvPr id="6" name="Text 2"/>
          <p:cNvSpPr txBox="1"/>
          <p:nvPr/>
        </p:nvSpPr>
        <p:spPr>
          <a:xfrm>
            <a:off x="548640" y="4041648"/>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7" name="Text 3"/>
          <p:cNvSpPr txBox="1"/>
          <p:nvPr/>
        </p:nvSpPr>
        <p:spPr>
          <a:xfrm>
            <a:off x="1170432" y="4041648"/>
            <a:ext cx="2971800" cy="365760"/>
          </a:xfrm>
          <a:prstGeom prst="rect">
            <a:avLst/>
          </a:prstGeom>
          <a:noFill/>
          <a:ln/>
        </p:spPr>
        <p:txBody>
          <a:bodyPr wrap="square" lIns="0" tIns="0" rIns="0" bIns="0" rtlCol="0" anchor="t"/>
          <a:lstStyle/>
          <a:p>
            <a:pPr marL="0" indent="0">
              <a:buNone/>
            </a:pPr>
            <a:r>
              <a:rPr lang="en-US" sz="1700" b="1" dirty="0">
                <a:solidFill>
                  <a:schemeClr val="tx1"/>
                </a:solidFill>
              </a:rPr>
              <a:t>Press Start and sit still</a:t>
            </a:r>
            <a:endParaRPr lang="en-US" sz="1700" dirty="0"/>
          </a:p>
        </p:txBody>
      </p:sp>
      <p:sp>
        <p:nvSpPr>
          <p:cNvPr id="8" name="Text 4"/>
          <p:cNvSpPr txBox="1"/>
          <p:nvPr/>
        </p:nvSpPr>
        <p:spPr>
          <a:xfrm>
            <a:off x="1170432" y="4434840"/>
            <a:ext cx="2971800" cy="777240"/>
          </a:xfrm>
          <a:prstGeom prst="rect">
            <a:avLst/>
          </a:prstGeom>
          <a:noFill/>
          <a:ln/>
        </p:spPr>
        <p:txBody>
          <a:bodyPr wrap="square" lIns="0" tIns="0" rIns="0" bIns="0" rtlCol="0" anchor="t"/>
          <a:lstStyle/>
          <a:p>
            <a:pPr marL="0" indent="0">
              <a:buNone/>
            </a:pPr>
            <a:r>
              <a:rPr lang="en-US" sz="1400" dirty="0">
                <a:solidFill>
                  <a:schemeClr val="tx2"/>
                </a:solidFill>
              </a:rPr>
              <a:t>The face box and three skin patches are tracked</a:t>
            </a:r>
            <a:endParaRPr lang="en-US" sz="1400" dirty="0"/>
          </a:p>
        </p:txBody>
      </p:sp>
      <p:sp>
        <p:nvSpPr>
          <p:cNvPr id="9" name="Shape 5"/>
          <p:cNvSpPr/>
          <p:nvPr/>
        </p:nvSpPr>
        <p:spPr>
          <a:xfrm>
            <a:off x="4297680" y="4041648"/>
            <a:ext cx="457200" cy="457200"/>
          </a:xfrm>
          <a:prstGeom prst="ellipse">
            <a:avLst/>
          </a:prstGeom>
          <a:solidFill>
            <a:schemeClr val="accent1"/>
          </a:solidFill>
          <a:ln/>
        </p:spPr>
        <p:txBody>
          <a:bodyPr/>
          <a:lstStyle/>
          <a:p>
            <a:endParaRPr lang="en-US"/>
          </a:p>
        </p:txBody>
      </p:sp>
      <p:sp>
        <p:nvSpPr>
          <p:cNvPr id="10" name="Text 6"/>
          <p:cNvSpPr txBox="1"/>
          <p:nvPr/>
        </p:nvSpPr>
        <p:spPr>
          <a:xfrm>
            <a:off x="4297680" y="4041648"/>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1" name="Text 7"/>
          <p:cNvSpPr txBox="1"/>
          <p:nvPr/>
        </p:nvSpPr>
        <p:spPr>
          <a:xfrm>
            <a:off x="4919472" y="4041648"/>
            <a:ext cx="2971800" cy="365760"/>
          </a:xfrm>
          <a:prstGeom prst="rect">
            <a:avLst/>
          </a:prstGeom>
          <a:noFill/>
          <a:ln/>
        </p:spPr>
        <p:txBody>
          <a:bodyPr wrap="square" lIns="0" tIns="0" rIns="0" bIns="0" rtlCol="0" anchor="t"/>
          <a:lstStyle/>
          <a:p>
            <a:pPr marL="0" indent="0">
              <a:buNone/>
            </a:pPr>
            <a:r>
              <a:rPr lang="en-US" sz="1700" b="1" dirty="0">
                <a:solidFill>
                  <a:schemeClr val="tx1"/>
                </a:solidFill>
              </a:rPr>
              <a:t>Reading after about 15 s</a:t>
            </a:r>
            <a:endParaRPr lang="en-US" sz="1700" dirty="0"/>
          </a:p>
        </p:txBody>
      </p:sp>
      <p:sp>
        <p:nvSpPr>
          <p:cNvPr id="12" name="Text 8"/>
          <p:cNvSpPr txBox="1"/>
          <p:nvPr/>
        </p:nvSpPr>
        <p:spPr>
          <a:xfrm>
            <a:off x="4919472" y="4434840"/>
            <a:ext cx="2971800" cy="777240"/>
          </a:xfrm>
          <a:prstGeom prst="rect">
            <a:avLst/>
          </a:prstGeom>
          <a:noFill/>
          <a:ln/>
        </p:spPr>
        <p:txBody>
          <a:bodyPr wrap="square" lIns="0" tIns="0" rIns="0" bIns="0" rtlCol="0" anchor="t"/>
          <a:lstStyle/>
          <a:p>
            <a:pPr marL="0" indent="0">
              <a:buNone/>
            </a:pPr>
            <a:r>
              <a:rPr lang="en-US" sz="1400" dirty="0">
                <a:solidFill>
                  <a:schemeClr val="tx2"/>
                </a:solidFill>
              </a:rPr>
              <a:t>10 s of signal plus the first TS-CAN estimate; updates every few seconds</a:t>
            </a:r>
            <a:endParaRPr lang="en-US" sz="1400" dirty="0"/>
          </a:p>
        </p:txBody>
      </p:sp>
      <p:sp>
        <p:nvSpPr>
          <p:cNvPr id="13" name="Shape 9"/>
          <p:cNvSpPr/>
          <p:nvPr/>
        </p:nvSpPr>
        <p:spPr>
          <a:xfrm>
            <a:off x="8046720" y="4041648"/>
            <a:ext cx="457200" cy="457200"/>
          </a:xfrm>
          <a:prstGeom prst="ellipse">
            <a:avLst/>
          </a:prstGeom>
          <a:solidFill>
            <a:schemeClr val="accent1"/>
          </a:solidFill>
          <a:ln/>
        </p:spPr>
        <p:txBody>
          <a:bodyPr/>
          <a:lstStyle/>
          <a:p>
            <a:endParaRPr lang="en-US"/>
          </a:p>
        </p:txBody>
      </p:sp>
      <p:sp>
        <p:nvSpPr>
          <p:cNvPr id="14" name="Text 10"/>
          <p:cNvSpPr txBox="1"/>
          <p:nvPr/>
        </p:nvSpPr>
        <p:spPr>
          <a:xfrm>
            <a:off x="8046720" y="4041648"/>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5" name="Text 11"/>
          <p:cNvSpPr txBox="1"/>
          <p:nvPr/>
        </p:nvSpPr>
        <p:spPr>
          <a:xfrm>
            <a:off x="8668512" y="4041648"/>
            <a:ext cx="2971800" cy="365760"/>
          </a:xfrm>
          <a:prstGeom prst="rect">
            <a:avLst/>
          </a:prstGeom>
          <a:noFill/>
          <a:ln/>
        </p:spPr>
        <p:txBody>
          <a:bodyPr wrap="square" lIns="0" tIns="0" rIns="0" bIns="0" rtlCol="0" anchor="t"/>
          <a:lstStyle/>
          <a:p>
            <a:pPr marL="0" indent="0">
              <a:buNone/>
            </a:pPr>
            <a:r>
              <a:rPr lang="en-US" sz="1700" b="1" dirty="0">
                <a:solidFill>
                  <a:schemeClr val="tx1"/>
                </a:solidFill>
              </a:rPr>
              <a:t>Final reading stays</a:t>
            </a:r>
            <a:endParaRPr lang="en-US" sz="1700" dirty="0"/>
          </a:p>
        </p:txBody>
      </p:sp>
      <p:sp>
        <p:nvSpPr>
          <p:cNvPr id="16" name="Text 12"/>
          <p:cNvSpPr txBox="1"/>
          <p:nvPr/>
        </p:nvSpPr>
        <p:spPr>
          <a:xfrm>
            <a:off x="8668512" y="4434840"/>
            <a:ext cx="2971800" cy="777240"/>
          </a:xfrm>
          <a:prstGeom prst="rect">
            <a:avLst/>
          </a:prstGeom>
          <a:noFill/>
          <a:ln/>
        </p:spPr>
        <p:txBody>
          <a:bodyPr wrap="square" lIns="0" tIns="0" rIns="0" bIns="0" rtlCol="0" anchor="t"/>
          <a:lstStyle/>
          <a:p>
            <a:pPr marL="0" indent="0">
              <a:buNone/>
            </a:pPr>
            <a:r>
              <a:rPr lang="en-US" sz="1400" dirty="0">
                <a:solidFill>
                  <a:schemeClr val="tx2"/>
                </a:solidFill>
              </a:rPr>
              <a:t>After 30 s the result stays on screen for logging</a:t>
            </a:r>
            <a:endParaRPr lang="en-US" sz="1400" dirty="0"/>
          </a:p>
        </p:txBody>
      </p:sp>
      <p:sp>
        <p:nvSpPr>
          <p:cNvPr id="17" name="Text 13"/>
          <p:cNvSpPr txBox="1"/>
          <p:nvPr/>
        </p:nvSpPr>
        <p:spPr>
          <a:xfrm>
            <a:off x="548640" y="5486400"/>
            <a:ext cx="11091672" cy="594360"/>
          </a:xfrm>
          <a:prstGeom prst="rect">
            <a:avLst/>
          </a:prstGeom>
          <a:noFill/>
          <a:ln/>
        </p:spPr>
        <p:txBody>
          <a:bodyPr wrap="square" lIns="0" tIns="0" rIns="0" bIns="0" rtlCol="0" anchor="t"/>
          <a:lstStyle/>
          <a:p>
            <a:pPr marL="0" indent="0">
              <a:buNone/>
            </a:pPr>
            <a:r>
              <a:rPr lang="en-US" sz="1200" i="1" dirty="0">
                <a:solidFill>
                  <a:schemeClr val="tx2"/>
                </a:solidFill>
              </a:rPr>
              <a:t>Shown: a test run using a UBFC-rPPG video frame with a simulated 72 bpm pulse; face blurred for privacy. A live run with a volunteer and a reference device is still to be done.</a:t>
            </a:r>
            <a:endParaRPr lang="en-US" sz="1200" dirty="0"/>
          </a:p>
        </p:txBody>
      </p:sp>
      <p:sp>
        <p:nvSpPr>
          <p:cNvPr id="25" name="Slide Number Placeholder 0"/>
          <p:cNvSpPr>
            <a:spLocks noGrp="1"/>
          </p:cNvSpPr>
          <p:nvPr>
            <p:ph type="sldNum" sz="quarter" idx="4294967295"/>
          </p:nvPr>
        </p:nvSpPr>
        <p:spPr>
          <a:xfrm>
            <a:off x="11091672" y="6336792"/>
            <a:ext cx="54864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a:spLocks noGrp="1"/>
          </p:cNvSpPr>
          <p:nvPr>
            <p:ph type="title" idx="103" hasCustomPrompt="1"/>
          </p:nvPr>
        </p:nvSpPr>
        <p:spPr>
          <a:xfrm>
            <a:off x="548640" y="384048"/>
            <a:ext cx="11091672" cy="731520"/>
          </a:xfrm>
          <a:prstGeom prst="rect">
            <a:avLst/>
          </a:prstGeom>
          <a:noFill/>
          <a:ln/>
        </p:spPr>
        <p:txBody>
          <a:bodyPr wrap="square" lIns="0" tIns="0" rIns="0" bIns="0" rtlCol="0" anchor="ctr"/>
          <a:lstStyle/>
          <a:p>
            <a:pPr marL="0" indent="0" algn="l">
              <a:buNone/>
            </a:pPr>
            <a:r>
              <a:rPr lang="en-US" sz="3600" b="1" dirty="0">
                <a:solidFill>
                  <a:schemeClr val="tx1"/>
                </a:solidFill>
              </a:rPr>
              <a:t>Upload: a real result on UBFC subject 1</a:t>
            </a:r>
            <a:endParaRPr lang="en-US" sz="3600" dirty="0"/>
          </a:p>
        </p:txBody>
      </p:sp>
      <p:pic>
        <p:nvPicPr>
          <p:cNvPr id="3" name="Upload result screenshot" descr="C:\Users\ASUS\AppData\Local\Temp\claude\D--PulseCam\15b79863-0d9b-43e5-86fa-f970749171f7\scratchpad\deck\img\upload.png"/>
          <p:cNvPicPr>
            <a:picLocks noChangeAspect="1"/>
          </p:cNvPicPr>
          <p:nvPr/>
        </p:nvPicPr>
        <p:blipFill>
          <a:blip r:embed="rId3"/>
          <a:stretch>
            <a:fillRect/>
          </a:stretch>
        </p:blipFill>
        <p:spPr>
          <a:xfrm>
            <a:off x="548640" y="1371600"/>
            <a:ext cx="7406640" cy="3223903"/>
          </a:xfrm>
          <a:prstGeom prst="rect">
            <a:avLst/>
          </a:prstGeom>
          <a:effectLst>
            <a:outerShdw blurRad="203200" dist="63500" dir="5400000" algn="bl" rotWithShape="0">
              <a:srgbClr val="1D3557">
                <a:alpha val="16000"/>
              </a:srgbClr>
            </a:outerShdw>
          </a:effectLst>
        </p:spPr>
      </p:pic>
      <p:sp>
        <p:nvSpPr>
          <p:cNvPr id="4" name="Text 1"/>
          <p:cNvSpPr txBox="1"/>
          <p:nvPr/>
        </p:nvSpPr>
        <p:spPr>
          <a:xfrm>
            <a:off x="8412480" y="1417320"/>
            <a:ext cx="3227832" cy="635000"/>
          </a:xfrm>
          <a:prstGeom prst="rect">
            <a:avLst/>
          </a:prstGeom>
          <a:noFill/>
          <a:ln/>
        </p:spPr>
        <p:txBody>
          <a:bodyPr wrap="square" lIns="0" tIns="0" rIns="0" bIns="0" rtlCol="0" anchor="t"/>
          <a:lstStyle/>
          <a:p>
            <a:pPr marL="0" indent="0">
              <a:buNone/>
            </a:pPr>
            <a:r>
              <a:rPr lang="en-US" sz="4000" b="1" dirty="0">
                <a:solidFill>
                  <a:schemeClr val="accent1"/>
                </a:solidFill>
                <a:latin typeface="+mj-lt" pitchFamily="34" charset="0"/>
                <a:ea typeface="+mj-lt" pitchFamily="34" charset="-122"/>
                <a:cs typeface="+mj-lt" pitchFamily="34" charset="-120"/>
              </a:rPr>
              <a:t>107.2 bpm</a:t>
            </a:r>
            <a:endParaRPr lang="en-US" sz="4000" dirty="0"/>
          </a:p>
        </p:txBody>
      </p:sp>
      <p:sp>
        <p:nvSpPr>
          <p:cNvPr id="5" name="Text 2"/>
          <p:cNvSpPr txBox="1"/>
          <p:nvPr/>
        </p:nvSpPr>
        <p:spPr>
          <a:xfrm>
            <a:off x="8412480" y="2070608"/>
            <a:ext cx="3227832" cy="502920"/>
          </a:xfrm>
          <a:prstGeom prst="rect">
            <a:avLst/>
          </a:prstGeom>
          <a:noFill/>
          <a:ln/>
        </p:spPr>
        <p:txBody>
          <a:bodyPr wrap="square" lIns="0" tIns="0" rIns="0" bIns="0" rtlCol="0" anchor="t"/>
          <a:lstStyle/>
          <a:p>
            <a:pPr marL="0" indent="0">
              <a:buNone/>
            </a:pPr>
            <a:r>
              <a:rPr lang="en-US" sz="1400" dirty="0">
                <a:solidFill>
                  <a:schemeClr val="tx2"/>
                </a:solidFill>
              </a:rPr>
              <a:t>measured by PulseCam (TS-CAN)</a:t>
            </a:r>
            <a:endParaRPr lang="en-US" sz="1400" dirty="0"/>
          </a:p>
        </p:txBody>
      </p:sp>
      <p:sp>
        <p:nvSpPr>
          <p:cNvPr id="6" name="Text 3"/>
          <p:cNvSpPr txBox="1"/>
          <p:nvPr/>
        </p:nvSpPr>
        <p:spPr>
          <a:xfrm>
            <a:off x="8412480" y="2697480"/>
            <a:ext cx="3227832" cy="635000"/>
          </a:xfrm>
          <a:prstGeom prst="rect">
            <a:avLst/>
          </a:prstGeom>
          <a:noFill/>
          <a:ln/>
        </p:spPr>
        <p:txBody>
          <a:bodyPr wrap="square" lIns="0" tIns="0" rIns="0" bIns="0" rtlCol="0" anchor="t"/>
          <a:lstStyle/>
          <a:p>
            <a:pPr marL="0" indent="0">
              <a:buNone/>
            </a:pPr>
            <a:r>
              <a:rPr lang="en-US" sz="4000" b="1" dirty="0">
                <a:solidFill>
                  <a:schemeClr val="tx1"/>
                </a:solidFill>
                <a:latin typeface="+mj-lt" pitchFamily="34" charset="0"/>
                <a:ea typeface="+mj-lt" pitchFamily="34" charset="-122"/>
                <a:cs typeface="+mj-lt" pitchFamily="34" charset="-120"/>
              </a:rPr>
              <a:t>106.7 bpm</a:t>
            </a:r>
            <a:endParaRPr lang="en-US" sz="4000" dirty="0"/>
          </a:p>
        </p:txBody>
      </p:sp>
      <p:sp>
        <p:nvSpPr>
          <p:cNvPr id="7" name="Text 4"/>
          <p:cNvSpPr txBox="1"/>
          <p:nvPr/>
        </p:nvSpPr>
        <p:spPr>
          <a:xfrm>
            <a:off x="8412480" y="3350768"/>
            <a:ext cx="3227832" cy="502920"/>
          </a:xfrm>
          <a:prstGeom prst="rect">
            <a:avLst/>
          </a:prstGeom>
          <a:noFill/>
          <a:ln/>
        </p:spPr>
        <p:txBody>
          <a:bodyPr wrap="square" lIns="0" tIns="0" rIns="0" bIns="0" rtlCol="0" anchor="t"/>
          <a:lstStyle/>
          <a:p>
            <a:pPr marL="0" indent="0">
              <a:buNone/>
            </a:pPr>
            <a:r>
              <a:rPr lang="en-US" sz="1400" dirty="0">
                <a:solidFill>
                  <a:schemeClr val="tx2"/>
                </a:solidFill>
              </a:rPr>
              <a:t>ground truth, finger-clip pulse</a:t>
            </a:r>
            <a:endParaRPr lang="en-US" sz="1400" dirty="0"/>
          </a:p>
        </p:txBody>
      </p:sp>
      <p:sp>
        <p:nvSpPr>
          <p:cNvPr id="8" name="Text 5"/>
          <p:cNvSpPr txBox="1"/>
          <p:nvPr/>
        </p:nvSpPr>
        <p:spPr>
          <a:xfrm>
            <a:off x="8412480" y="3977640"/>
            <a:ext cx="3227832" cy="635000"/>
          </a:xfrm>
          <a:prstGeom prst="rect">
            <a:avLst/>
          </a:prstGeom>
          <a:noFill/>
          <a:ln/>
        </p:spPr>
        <p:txBody>
          <a:bodyPr wrap="square" lIns="0" tIns="0" rIns="0" bIns="0" rtlCol="0" anchor="t"/>
          <a:lstStyle/>
          <a:p>
            <a:pPr marL="0" indent="0">
              <a:buNone/>
            </a:pPr>
            <a:r>
              <a:rPr lang="en-US" sz="4000" b="1" dirty="0">
                <a:solidFill>
                  <a:schemeClr val="tx1"/>
                </a:solidFill>
                <a:latin typeface="+mj-lt" pitchFamily="34" charset="0"/>
                <a:ea typeface="+mj-lt" pitchFamily="34" charset="-122"/>
                <a:cs typeface="+mj-lt" pitchFamily="34" charset="-120"/>
              </a:rPr>
              <a:t>+0.5 bpm</a:t>
            </a:r>
            <a:endParaRPr lang="en-US" sz="4000" dirty="0"/>
          </a:p>
        </p:txBody>
      </p:sp>
      <p:sp>
        <p:nvSpPr>
          <p:cNvPr id="9" name="Text 6"/>
          <p:cNvSpPr txBox="1"/>
          <p:nvPr/>
        </p:nvSpPr>
        <p:spPr>
          <a:xfrm>
            <a:off x="8412480" y="4630928"/>
            <a:ext cx="3227832" cy="502920"/>
          </a:xfrm>
          <a:prstGeom prst="rect">
            <a:avLst/>
          </a:prstGeom>
          <a:noFill/>
          <a:ln/>
        </p:spPr>
        <p:txBody>
          <a:bodyPr wrap="square" lIns="0" tIns="0" rIns="0" bIns="0" rtlCol="0" anchor="t"/>
          <a:lstStyle/>
          <a:p>
            <a:pPr marL="0" indent="0">
              <a:buNone/>
            </a:pPr>
            <a:r>
              <a:rPr lang="en-US" sz="1400" dirty="0">
                <a:solidFill>
                  <a:schemeClr val="tx2"/>
                </a:solidFill>
              </a:rPr>
              <a:t>error over the whole video</a:t>
            </a:r>
            <a:endParaRPr lang="en-US" sz="1400" dirty="0"/>
          </a:p>
        </p:txBody>
      </p:sp>
      <p:sp>
        <p:nvSpPr>
          <p:cNvPr id="10" name="Text 7"/>
          <p:cNvSpPr txBox="1"/>
          <p:nvPr/>
        </p:nvSpPr>
        <p:spPr>
          <a:xfrm>
            <a:off x="548640" y="4800600"/>
            <a:ext cx="7406640" cy="548640"/>
          </a:xfrm>
          <a:prstGeom prst="rect">
            <a:avLst/>
          </a:prstGeom>
          <a:noFill/>
          <a:ln/>
        </p:spPr>
        <p:txBody>
          <a:bodyPr wrap="square" lIns="0" tIns="0" rIns="0" bIns="0" rtlCol="0" anchor="t"/>
          <a:lstStyle/>
          <a:p>
            <a:pPr marL="0" indent="0">
              <a:buNone/>
            </a:pPr>
            <a:r>
              <a:rPr lang="en-US" sz="1500" dirty="0">
                <a:solidFill>
                  <a:schemeClr val="tx2"/>
                </a:solidFill>
              </a:rPr>
              <a:t>One window dips to 76 bpm, a wrong-frequency lock; the median over 43 windows is not affected.</a:t>
            </a:r>
            <a:endParaRPr lang="en-US" sz="1500" dirty="0"/>
          </a:p>
        </p:txBody>
      </p:sp>
      <p:sp>
        <p:nvSpPr>
          <p:cNvPr id="11" name="Text 8"/>
          <p:cNvSpPr txBox="1"/>
          <p:nvPr/>
        </p:nvSpPr>
        <p:spPr>
          <a:xfrm>
            <a:off x="548640" y="5440680"/>
            <a:ext cx="7406640" cy="548640"/>
          </a:xfrm>
          <a:prstGeom prst="rect">
            <a:avLst/>
          </a:prstGeom>
          <a:noFill/>
          <a:ln/>
        </p:spPr>
        <p:txBody>
          <a:bodyPr wrap="square" lIns="0" tIns="0" rIns="0" bIns="0" rtlCol="0" anchor="t"/>
          <a:lstStyle/>
          <a:p>
            <a:pPr marL="0" indent="0">
              <a:buNone/>
            </a:pPr>
            <a:r>
              <a:rPr lang="en-US" sz="1500" dirty="0">
                <a:solidFill>
                  <a:schemeClr val="tx2"/>
                </a:solidFill>
              </a:rPr>
              <a:t>Upload and the evaluation scripts share one function, checked to give identical results.</a:t>
            </a:r>
            <a:endParaRPr lang="en-US" sz="1500" dirty="0"/>
          </a:p>
        </p:txBody>
      </p:sp>
      <p:sp>
        <p:nvSpPr>
          <p:cNvPr id="25" name="Slide Number Placeholder 0"/>
          <p:cNvSpPr>
            <a:spLocks noGrp="1"/>
          </p:cNvSpPr>
          <p:nvPr>
            <p:ph type="sldNum" sz="quarter" idx="4294967295"/>
          </p:nvPr>
        </p:nvSpPr>
        <p:spPr>
          <a:xfrm>
            <a:off x="11091672" y="6336792"/>
            <a:ext cx="54864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a:spLocks noGrp="1"/>
          </p:cNvSpPr>
          <p:nvPr>
            <p:ph type="title" idx="103" hasCustomPrompt="1"/>
          </p:nvPr>
        </p:nvSpPr>
        <p:spPr>
          <a:xfrm>
            <a:off x="548640" y="384048"/>
            <a:ext cx="11091672" cy="731520"/>
          </a:xfrm>
          <a:prstGeom prst="rect">
            <a:avLst/>
          </a:prstGeom>
          <a:noFill/>
          <a:ln/>
        </p:spPr>
        <p:txBody>
          <a:bodyPr wrap="square" lIns="0" tIns="0" rIns="0" bIns="0" rtlCol="0" anchor="ctr"/>
          <a:lstStyle/>
          <a:p>
            <a:pPr marL="0" indent="0" algn="l">
              <a:buNone/>
            </a:pPr>
            <a:r>
              <a:rPr lang="en-US" sz="3600" b="1" dirty="0">
                <a:solidFill>
                  <a:schemeClr val="tx1"/>
                </a:solidFill>
              </a:rPr>
              <a:t>Making it real-time on a laptop CPU</a:t>
            </a:r>
            <a:endParaRPr lang="en-US" sz="3600" dirty="0"/>
          </a:p>
        </p:txBody>
      </p:sp>
      <p:sp>
        <p:nvSpPr>
          <p:cNvPr id="3" name="Browser box"/>
          <p:cNvSpPr/>
          <p:nvPr/>
        </p:nvSpPr>
        <p:spPr>
          <a:xfrm>
            <a:off x="548640" y="1371600"/>
            <a:ext cx="4846320" cy="1234440"/>
          </a:xfrm>
          <a:prstGeom prst="roundRect">
            <a:avLst>
              <a:gd name="adj" fmla="val 13333"/>
            </a:avLst>
          </a:prstGeom>
          <a:solidFill>
            <a:schemeClr val="bg2"/>
          </a:solidFill>
          <a:ln/>
        </p:spPr>
        <p:txBody>
          <a:bodyPr/>
          <a:lstStyle/>
          <a:p>
            <a:endParaRPr lang="en-US"/>
          </a:p>
        </p:txBody>
      </p:sp>
      <p:sp>
        <p:nvSpPr>
          <p:cNvPr id="4" name="Shape 2"/>
          <p:cNvSpPr/>
          <p:nvPr/>
        </p:nvSpPr>
        <p:spPr>
          <a:xfrm>
            <a:off x="822960" y="1664208"/>
            <a:ext cx="640080" cy="640080"/>
          </a:xfrm>
          <a:prstGeom prst="ellipse">
            <a:avLst/>
          </a:prstGeom>
          <a:solidFill>
            <a:schemeClr val="accent3"/>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982980" y="1824228"/>
            <a:ext cx="320040" cy="320040"/>
          </a:xfrm>
          <a:prstGeom prst="rect">
            <a:avLst/>
          </a:prstGeom>
        </p:spPr>
      </p:pic>
      <p:sp>
        <p:nvSpPr>
          <p:cNvPr id="6" name="Text 3"/>
          <p:cNvSpPr txBox="1"/>
          <p:nvPr/>
        </p:nvSpPr>
        <p:spPr>
          <a:xfrm>
            <a:off x="1691640" y="1627632"/>
            <a:ext cx="3474720" cy="347472"/>
          </a:xfrm>
          <a:prstGeom prst="rect">
            <a:avLst/>
          </a:prstGeom>
          <a:noFill/>
          <a:ln/>
        </p:spPr>
        <p:txBody>
          <a:bodyPr wrap="square" lIns="0" tIns="0" rIns="0" bIns="0" rtlCol="0" anchor="t"/>
          <a:lstStyle/>
          <a:p>
            <a:pPr marL="0" indent="0">
              <a:buNone/>
            </a:pPr>
            <a:r>
              <a:rPr lang="en-US" sz="1800" b="1" dirty="0">
                <a:solidFill>
                  <a:schemeClr val="tx1"/>
                </a:solidFill>
              </a:rPr>
              <a:t>Browser</a:t>
            </a:r>
            <a:endParaRPr lang="en-US" sz="1800" dirty="0"/>
          </a:p>
        </p:txBody>
      </p:sp>
      <p:sp>
        <p:nvSpPr>
          <p:cNvPr id="7" name="Text 4"/>
          <p:cNvSpPr txBox="1"/>
          <p:nvPr/>
        </p:nvSpPr>
        <p:spPr>
          <a:xfrm>
            <a:off x="1691640" y="1993392"/>
            <a:ext cx="3474720" cy="347472"/>
          </a:xfrm>
          <a:prstGeom prst="rect">
            <a:avLst/>
          </a:prstGeom>
          <a:noFill/>
          <a:ln/>
        </p:spPr>
        <p:txBody>
          <a:bodyPr wrap="square" lIns="0" tIns="0" rIns="0" bIns="0" rtlCol="0" anchor="t"/>
          <a:lstStyle/>
          <a:p>
            <a:pPr marL="0" indent="0">
              <a:buNone/>
            </a:pPr>
            <a:r>
              <a:rPr lang="en-US" sz="1400" dirty="0">
                <a:solidFill>
                  <a:schemeClr val="tx2"/>
                </a:solidFill>
              </a:rPr>
              <a:t>Camera, page, charts</a:t>
            </a:r>
            <a:endParaRPr lang="en-US" sz="1400" dirty="0"/>
          </a:p>
        </p:txBody>
      </p:sp>
      <p:pic>
        <p:nvPicPr>
          <p:cNvPr id="8" name="Image 1" descr="preencoded.png"/>
          <p:cNvPicPr>
            <a:picLocks noChangeAspect="1"/>
          </p:cNvPicPr>
          <p:nvPr/>
        </p:nvPicPr>
        <p:blipFill>
          <a:blip r:embed="rId4"/>
          <a:stretch>
            <a:fillRect/>
          </a:stretch>
        </p:blipFill>
        <p:spPr>
          <a:xfrm>
            <a:off x="1508760" y="2743200"/>
            <a:ext cx="274320" cy="914400"/>
          </a:xfrm>
          <a:prstGeom prst="rect">
            <a:avLst/>
          </a:prstGeom>
        </p:spPr>
      </p:pic>
      <p:sp>
        <p:nvSpPr>
          <p:cNvPr id="9" name="Text 5"/>
          <p:cNvSpPr txBox="1"/>
          <p:nvPr/>
        </p:nvSpPr>
        <p:spPr>
          <a:xfrm>
            <a:off x="1874520" y="3017520"/>
            <a:ext cx="1463040" cy="320040"/>
          </a:xfrm>
          <a:prstGeom prst="rect">
            <a:avLst/>
          </a:prstGeom>
          <a:noFill/>
          <a:ln/>
        </p:spPr>
        <p:txBody>
          <a:bodyPr wrap="square" lIns="0" tIns="0" rIns="0" bIns="0" rtlCol="0" anchor="t"/>
          <a:lstStyle/>
          <a:p>
            <a:pPr marL="0" indent="0">
              <a:buNone/>
            </a:pPr>
            <a:r>
              <a:rPr lang="en-US" sz="1300" b="1" dirty="0">
                <a:solidFill>
                  <a:schemeClr val="accent2"/>
                </a:solidFill>
              </a:rPr>
              <a:t>raw frames</a:t>
            </a:r>
            <a:endParaRPr lang="en-US" sz="1300" dirty="0"/>
          </a:p>
        </p:txBody>
      </p:sp>
      <p:pic>
        <p:nvPicPr>
          <p:cNvPr id="10" name="Image 2" descr="preencoded.png"/>
          <p:cNvPicPr>
            <a:picLocks noChangeAspect="1"/>
          </p:cNvPicPr>
          <p:nvPr/>
        </p:nvPicPr>
        <p:blipFill>
          <a:blip r:embed="rId5"/>
          <a:stretch>
            <a:fillRect/>
          </a:stretch>
        </p:blipFill>
        <p:spPr>
          <a:xfrm>
            <a:off x="3886200" y="2743200"/>
            <a:ext cx="274320" cy="914400"/>
          </a:xfrm>
          <a:prstGeom prst="rect">
            <a:avLst/>
          </a:prstGeom>
        </p:spPr>
      </p:pic>
      <p:sp>
        <p:nvSpPr>
          <p:cNvPr id="11" name="Text 6"/>
          <p:cNvSpPr txBox="1"/>
          <p:nvPr/>
        </p:nvSpPr>
        <p:spPr>
          <a:xfrm>
            <a:off x="4251960" y="3017520"/>
            <a:ext cx="1188720" cy="548640"/>
          </a:xfrm>
          <a:prstGeom prst="rect">
            <a:avLst/>
          </a:prstGeom>
          <a:noFill/>
          <a:ln/>
        </p:spPr>
        <p:txBody>
          <a:bodyPr wrap="square" lIns="0" tIns="0" rIns="0" bIns="0" rtlCol="0" anchor="t"/>
          <a:lstStyle/>
          <a:p>
            <a:pPr marL="0" indent="0">
              <a:buNone/>
            </a:pPr>
            <a:r>
              <a:rPr lang="en-US" sz="1300" b="1" dirty="0">
                <a:solidFill>
                  <a:schemeClr val="accent2"/>
                </a:solidFill>
              </a:rPr>
              <a:t>BPM, signal, face box</a:t>
            </a:r>
            <a:endParaRPr lang="en-US" sz="1300" dirty="0"/>
          </a:p>
        </p:txBody>
      </p:sp>
      <p:sp>
        <p:nvSpPr>
          <p:cNvPr id="12" name="Server box"/>
          <p:cNvSpPr/>
          <p:nvPr/>
        </p:nvSpPr>
        <p:spPr>
          <a:xfrm>
            <a:off x="548640" y="3794760"/>
            <a:ext cx="4846320" cy="1920240"/>
          </a:xfrm>
          <a:prstGeom prst="roundRect">
            <a:avLst>
              <a:gd name="adj" fmla="val 8571"/>
            </a:avLst>
          </a:prstGeom>
          <a:solidFill>
            <a:schemeClr val="bg2"/>
          </a:solidFill>
          <a:ln/>
        </p:spPr>
        <p:txBody>
          <a:bodyPr/>
          <a:lstStyle/>
          <a:p>
            <a:endParaRPr lang="en-US"/>
          </a:p>
        </p:txBody>
      </p:sp>
      <p:sp>
        <p:nvSpPr>
          <p:cNvPr id="13" name="Shape 8"/>
          <p:cNvSpPr/>
          <p:nvPr/>
        </p:nvSpPr>
        <p:spPr>
          <a:xfrm>
            <a:off x="822960" y="4069080"/>
            <a:ext cx="640080" cy="640080"/>
          </a:xfrm>
          <a:prstGeom prst="ellipse">
            <a:avLst/>
          </a:prstGeom>
          <a:solidFill>
            <a:schemeClr val="accent3"/>
          </a:solidFill>
          <a:ln/>
        </p:spPr>
        <p:txBody>
          <a:bodyPr/>
          <a:lstStyle/>
          <a:p>
            <a:endParaRPr lang="en-US"/>
          </a:p>
        </p:txBody>
      </p:sp>
      <p:pic>
        <p:nvPicPr>
          <p:cNvPr id="14" name="Image 3" descr="preencoded.png"/>
          <p:cNvPicPr>
            <a:picLocks noChangeAspect="1"/>
          </p:cNvPicPr>
          <p:nvPr/>
        </p:nvPicPr>
        <p:blipFill>
          <a:blip r:embed="rId6"/>
          <a:stretch>
            <a:fillRect/>
          </a:stretch>
        </p:blipFill>
        <p:spPr>
          <a:xfrm>
            <a:off x="982980" y="4229100"/>
            <a:ext cx="320040" cy="320040"/>
          </a:xfrm>
          <a:prstGeom prst="rect">
            <a:avLst/>
          </a:prstGeom>
        </p:spPr>
      </p:pic>
      <p:sp>
        <p:nvSpPr>
          <p:cNvPr id="15" name="Text 9"/>
          <p:cNvSpPr txBox="1"/>
          <p:nvPr/>
        </p:nvSpPr>
        <p:spPr>
          <a:xfrm>
            <a:off x="1691640" y="4050792"/>
            <a:ext cx="3474720" cy="347472"/>
          </a:xfrm>
          <a:prstGeom prst="rect">
            <a:avLst/>
          </a:prstGeom>
          <a:noFill/>
          <a:ln/>
        </p:spPr>
        <p:txBody>
          <a:bodyPr wrap="square" lIns="0" tIns="0" rIns="0" bIns="0" rtlCol="0" anchor="t"/>
          <a:lstStyle/>
          <a:p>
            <a:pPr marL="0" indent="0">
              <a:buNone/>
            </a:pPr>
            <a:r>
              <a:rPr lang="en-US" sz="1800" b="1" dirty="0">
                <a:solidFill>
                  <a:schemeClr val="tx1"/>
                </a:solidFill>
              </a:rPr>
              <a:t>Python server</a:t>
            </a:r>
            <a:endParaRPr lang="en-US" sz="1800" dirty="0"/>
          </a:p>
        </p:txBody>
      </p:sp>
      <p:sp>
        <p:nvSpPr>
          <p:cNvPr id="16" name="Text 10"/>
          <p:cNvSpPr txBox="1"/>
          <p:nvPr/>
        </p:nvSpPr>
        <p:spPr>
          <a:xfrm>
            <a:off x="1691640" y="4434840"/>
            <a:ext cx="3474720" cy="1143000"/>
          </a:xfrm>
          <a:prstGeom prst="rect">
            <a:avLst/>
          </a:prstGeom>
          <a:noFill/>
          <a:ln/>
        </p:spPr>
        <p:txBody>
          <a:bodyPr wrap="square" lIns="0" tIns="0" rIns="0" bIns="0" rtlCol="0" anchor="t"/>
          <a:lstStyle/>
          <a:p>
            <a:pPr marL="0" indent="0">
              <a:buNone/>
            </a:pPr>
            <a:r>
              <a:rPr lang="en-US" sz="1400" dirty="0">
                <a:solidFill>
                  <a:schemeClr val="tx2"/>
                </a:solidFill>
              </a:rPr>
              <a:t>Face → skin patches → model → FFT. TS‑CAN runs in a background thread so frames keep flowing.</a:t>
            </a:r>
            <a:endParaRPr lang="en-US" sz="1400" dirty="0"/>
          </a:p>
        </p:txBody>
      </p:sp>
      <p:sp>
        <p:nvSpPr>
          <p:cNvPr id="17" name="Text 11"/>
          <p:cNvSpPr txBox="1"/>
          <p:nvPr/>
        </p:nvSpPr>
        <p:spPr>
          <a:xfrm>
            <a:off x="5943600" y="1371600"/>
            <a:ext cx="2651760" cy="548640"/>
          </a:xfrm>
          <a:prstGeom prst="rect">
            <a:avLst/>
          </a:prstGeom>
          <a:noFill/>
          <a:ln/>
        </p:spPr>
        <p:txBody>
          <a:bodyPr wrap="square" lIns="0" tIns="0" rIns="0" bIns="0" rtlCol="0" anchor="t"/>
          <a:lstStyle/>
          <a:p>
            <a:pPr marL="0" indent="0">
              <a:buNone/>
            </a:pPr>
            <a:r>
              <a:rPr lang="en-US" sz="2800" b="1" dirty="0">
                <a:solidFill>
                  <a:schemeClr val="tx1"/>
                </a:solidFill>
                <a:latin typeface="+mj-lt" pitchFamily="34" charset="0"/>
                <a:ea typeface="+mj-lt" pitchFamily="34" charset="-122"/>
                <a:cs typeface="+mj-lt" pitchFamily="34" charset="-120"/>
              </a:rPr>
              <a:t>116 → 19 ms</a:t>
            </a:r>
            <a:endParaRPr lang="en-US" sz="2800" dirty="0"/>
          </a:p>
        </p:txBody>
      </p:sp>
      <p:sp>
        <p:nvSpPr>
          <p:cNvPr id="18" name="Text 12"/>
          <p:cNvSpPr txBox="1"/>
          <p:nvPr/>
        </p:nvSpPr>
        <p:spPr>
          <a:xfrm>
            <a:off x="8641080" y="1426464"/>
            <a:ext cx="2999232" cy="685800"/>
          </a:xfrm>
          <a:prstGeom prst="rect">
            <a:avLst/>
          </a:prstGeom>
          <a:noFill/>
          <a:ln/>
        </p:spPr>
        <p:txBody>
          <a:bodyPr wrap="square" lIns="0" tIns="0" rIns="0" bIns="0" rtlCol="0" anchor="t"/>
          <a:lstStyle/>
          <a:p>
            <a:pPr marL="0" indent="0">
              <a:buNone/>
            </a:pPr>
            <a:r>
              <a:rPr lang="en-US" sz="1400" dirty="0">
                <a:solidFill>
                  <a:schemeClr val="tx2"/>
                </a:solidFill>
              </a:rPr>
              <a:t>per frame: switched off compression of 1.2 MB frames</a:t>
            </a:r>
            <a:endParaRPr lang="en-US" sz="1400" dirty="0"/>
          </a:p>
        </p:txBody>
      </p:sp>
      <p:sp>
        <p:nvSpPr>
          <p:cNvPr id="19" name="Text 13"/>
          <p:cNvSpPr txBox="1"/>
          <p:nvPr/>
        </p:nvSpPr>
        <p:spPr>
          <a:xfrm>
            <a:off x="5943600" y="2359152"/>
            <a:ext cx="2651760" cy="548640"/>
          </a:xfrm>
          <a:prstGeom prst="rect">
            <a:avLst/>
          </a:prstGeom>
          <a:noFill/>
          <a:ln/>
        </p:spPr>
        <p:txBody>
          <a:bodyPr wrap="square" lIns="0" tIns="0" rIns="0" bIns="0" rtlCol="0" anchor="t"/>
          <a:lstStyle/>
          <a:p>
            <a:pPr marL="0" indent="0">
              <a:buNone/>
            </a:pPr>
            <a:r>
              <a:rPr lang="en-US" sz="2800" b="1" dirty="0">
                <a:solidFill>
                  <a:schemeClr val="tx1"/>
                </a:solidFill>
                <a:latin typeface="+mj-lt" pitchFamily="34" charset="0"/>
                <a:ea typeface="+mj-lt" pitchFamily="34" charset="-122"/>
                <a:cs typeface="+mj-lt" pitchFamily="34" charset="-120"/>
              </a:rPr>
              <a:t>3.5 → 0.3 s</a:t>
            </a:r>
            <a:endParaRPr lang="en-US" sz="2800" dirty="0"/>
          </a:p>
        </p:txBody>
      </p:sp>
      <p:sp>
        <p:nvSpPr>
          <p:cNvPr id="20" name="Text 14"/>
          <p:cNvSpPr txBox="1"/>
          <p:nvPr/>
        </p:nvSpPr>
        <p:spPr>
          <a:xfrm>
            <a:off x="8641080" y="2414016"/>
            <a:ext cx="2999232" cy="685800"/>
          </a:xfrm>
          <a:prstGeom prst="rect">
            <a:avLst/>
          </a:prstGeom>
          <a:noFill/>
          <a:ln/>
        </p:spPr>
        <p:txBody>
          <a:bodyPr wrap="square" lIns="0" tIns="0" rIns="0" bIns="0" rtlCol="0" anchor="t"/>
          <a:lstStyle/>
          <a:p>
            <a:pPr marL="0" indent="0">
              <a:buNone/>
            </a:pPr>
            <a:r>
              <a:rPr lang="en-US" sz="1400" dirty="0">
                <a:solidFill>
                  <a:schemeClr val="tx2"/>
                </a:solidFill>
              </a:rPr>
              <a:t>session start: face detector loaded once at start-up</a:t>
            </a:r>
            <a:endParaRPr lang="en-US" sz="1400" dirty="0"/>
          </a:p>
        </p:txBody>
      </p:sp>
      <p:sp>
        <p:nvSpPr>
          <p:cNvPr id="21" name="Text 15"/>
          <p:cNvSpPr txBox="1"/>
          <p:nvPr/>
        </p:nvSpPr>
        <p:spPr>
          <a:xfrm>
            <a:off x="5943600" y="3346704"/>
            <a:ext cx="2651760" cy="548640"/>
          </a:xfrm>
          <a:prstGeom prst="rect">
            <a:avLst/>
          </a:prstGeom>
          <a:noFill/>
          <a:ln/>
        </p:spPr>
        <p:txBody>
          <a:bodyPr wrap="square" lIns="0" tIns="0" rIns="0" bIns="0" rtlCol="0" anchor="t"/>
          <a:lstStyle/>
          <a:p>
            <a:pPr marL="0" indent="0">
              <a:buNone/>
            </a:pPr>
            <a:r>
              <a:rPr lang="en-US" sz="2800" b="1" dirty="0">
                <a:solidFill>
                  <a:schemeClr val="tx1"/>
                </a:solidFill>
                <a:latin typeface="+mj-lt" pitchFamily="34" charset="0"/>
                <a:ea typeface="+mj-lt" pitchFamily="34" charset="-122"/>
                <a:cs typeface="+mj-lt" pitchFamily="34" charset="-120"/>
              </a:rPr>
              <a:t>9.1 → 4.2 s</a:t>
            </a:r>
            <a:endParaRPr lang="en-US" sz="2800" dirty="0"/>
          </a:p>
        </p:txBody>
      </p:sp>
      <p:sp>
        <p:nvSpPr>
          <p:cNvPr id="22" name="Text 16"/>
          <p:cNvSpPr txBox="1"/>
          <p:nvPr/>
        </p:nvSpPr>
        <p:spPr>
          <a:xfrm>
            <a:off x="8641080" y="3401568"/>
            <a:ext cx="2999232" cy="685800"/>
          </a:xfrm>
          <a:prstGeom prst="rect">
            <a:avLst/>
          </a:prstGeom>
          <a:noFill/>
          <a:ln/>
        </p:spPr>
        <p:txBody>
          <a:bodyPr wrap="square" lIns="0" tIns="0" rIns="0" bIns="0" rtlCol="0" anchor="t"/>
          <a:lstStyle/>
          <a:p>
            <a:pPr marL="0" indent="0">
              <a:buNone/>
            </a:pPr>
            <a:r>
              <a:rPr lang="en-US" sz="1400" dirty="0">
                <a:solidFill>
                  <a:schemeClr val="tx2"/>
                </a:solidFill>
              </a:rPr>
              <a:t>per TS-CAN estimate: 2 CPU threads instead of 4</a:t>
            </a:r>
            <a:endParaRPr lang="en-US" sz="1400" dirty="0"/>
          </a:p>
        </p:txBody>
      </p:sp>
      <p:sp>
        <p:nvSpPr>
          <p:cNvPr id="23" name="Text 17"/>
          <p:cNvSpPr txBox="1"/>
          <p:nvPr/>
        </p:nvSpPr>
        <p:spPr>
          <a:xfrm>
            <a:off x="5943600" y="4334256"/>
            <a:ext cx="2651760" cy="548640"/>
          </a:xfrm>
          <a:prstGeom prst="rect">
            <a:avLst/>
          </a:prstGeom>
          <a:noFill/>
          <a:ln/>
        </p:spPr>
        <p:txBody>
          <a:bodyPr wrap="square" lIns="0" tIns="0" rIns="0" bIns="0" rtlCol="0" anchor="t"/>
          <a:lstStyle/>
          <a:p>
            <a:pPr marL="0" indent="0">
              <a:buNone/>
            </a:pPr>
            <a:r>
              <a:rPr lang="en-US" sz="2800" b="1" dirty="0">
                <a:solidFill>
                  <a:schemeClr val="accent1"/>
                </a:solidFill>
                <a:latin typeface="+mj-lt" pitchFamily="34" charset="0"/>
                <a:ea typeface="+mj-lt" pitchFamily="34" charset="-122"/>
                <a:cs typeface="+mj-lt" pitchFamily="34" charset="-120"/>
              </a:rPr>
              <a:t>5 → 20+ fps</a:t>
            </a:r>
            <a:endParaRPr lang="en-US" sz="2800" dirty="0"/>
          </a:p>
        </p:txBody>
      </p:sp>
      <p:sp>
        <p:nvSpPr>
          <p:cNvPr id="24" name="Text 18"/>
          <p:cNvSpPr txBox="1"/>
          <p:nvPr/>
        </p:nvSpPr>
        <p:spPr>
          <a:xfrm>
            <a:off x="8641080" y="4389120"/>
            <a:ext cx="2999232" cy="685800"/>
          </a:xfrm>
          <a:prstGeom prst="rect">
            <a:avLst/>
          </a:prstGeom>
          <a:noFill/>
          <a:ln/>
        </p:spPr>
        <p:txBody>
          <a:bodyPr wrap="square" lIns="0" tIns="0" rIns="0" bIns="0" rtlCol="0" anchor="t"/>
          <a:lstStyle/>
          <a:p>
            <a:pPr marL="0" indent="0">
              <a:buNone/>
            </a:pPr>
            <a:r>
              <a:rPr lang="en-US" sz="1400" dirty="0">
                <a:solidFill>
                  <a:schemeClr val="tx2"/>
                </a:solidFill>
              </a:rPr>
              <a:t>capture rate while an estimate is running</a:t>
            </a:r>
            <a:endParaRPr lang="en-US" sz="1400" dirty="0"/>
          </a:p>
        </p:txBody>
      </p:sp>
      <p:sp>
        <p:nvSpPr>
          <p:cNvPr id="25" name="Text 19"/>
          <p:cNvSpPr txBox="1"/>
          <p:nvPr/>
        </p:nvSpPr>
        <p:spPr>
          <a:xfrm>
            <a:off x="5943600" y="5440680"/>
            <a:ext cx="5696712" cy="640080"/>
          </a:xfrm>
          <a:prstGeom prst="rect">
            <a:avLst/>
          </a:prstGeom>
          <a:noFill/>
          <a:ln/>
        </p:spPr>
        <p:txBody>
          <a:bodyPr wrap="square" lIns="0" tIns="0" rIns="0" bIns="0" rtlCol="0" anchor="t"/>
          <a:lstStyle/>
          <a:p>
            <a:pPr marL="0" indent="0">
              <a:buNone/>
            </a:pPr>
            <a:r>
              <a:rPr lang="en-US" sz="1500" b="1" dirty="0">
                <a:solidFill>
                  <a:schemeClr val="accent1"/>
                </a:solidFill>
              </a:rPr>
              <a:t>Frames are never compressed: re-encoding a clip made POS read 62 instead of 107 bpm.</a:t>
            </a:r>
            <a:endParaRPr lang="en-US" sz="1500" dirty="0"/>
          </a:p>
        </p:txBody>
      </p:sp>
      <p:sp>
        <p:nvSpPr>
          <p:cNvPr id="26" name="Slide Number Placeholder 0"/>
          <p:cNvSpPr>
            <a:spLocks noGrp="1"/>
          </p:cNvSpPr>
          <p:nvPr>
            <p:ph type="sldNum" sz="quarter" idx="4294967295"/>
          </p:nvPr>
        </p:nvSpPr>
        <p:spPr>
          <a:xfrm>
            <a:off x="11091672" y="6336792"/>
            <a:ext cx="54864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a:spLocks noGrp="1"/>
          </p:cNvSpPr>
          <p:nvPr>
            <p:ph type="title" idx="103" hasCustomPrompt="1"/>
          </p:nvPr>
        </p:nvSpPr>
        <p:spPr>
          <a:xfrm>
            <a:off x="548640" y="384048"/>
            <a:ext cx="11091672" cy="731520"/>
          </a:xfrm>
          <a:prstGeom prst="rect">
            <a:avLst/>
          </a:prstGeom>
          <a:noFill/>
          <a:ln/>
        </p:spPr>
        <p:txBody>
          <a:bodyPr wrap="square" lIns="0" tIns="0" rIns="0" bIns="0" rtlCol="0" anchor="ctr"/>
          <a:lstStyle/>
          <a:p>
            <a:pPr marL="0" indent="0" algn="l">
              <a:buNone/>
            </a:pPr>
            <a:r>
              <a:rPr lang="en-US" sz="3600" b="1" dirty="0">
                <a:solidFill>
                  <a:schemeClr val="tx1"/>
                </a:solidFill>
              </a:rPr>
              <a:t>Limits and responsibilities</a:t>
            </a:r>
            <a:endParaRPr lang="en-US" sz="3600" dirty="0"/>
          </a:p>
        </p:txBody>
      </p:sp>
      <p:sp>
        <p:nvSpPr>
          <p:cNvPr id="3" name="Limitations card"/>
          <p:cNvSpPr/>
          <p:nvPr/>
        </p:nvSpPr>
        <p:spPr>
          <a:xfrm>
            <a:off x="548640" y="1371600"/>
            <a:ext cx="5449824" cy="4343400"/>
          </a:xfrm>
          <a:prstGeom prst="roundRect">
            <a:avLst>
              <a:gd name="adj" fmla="val 3789"/>
            </a:avLst>
          </a:prstGeom>
          <a:solidFill>
            <a:schemeClr val="bg2"/>
          </a:solidFill>
          <a:ln/>
        </p:spPr>
        <p:txBody>
          <a:bodyPr/>
          <a:lstStyle/>
          <a:p>
            <a:endParaRPr lang="en-US"/>
          </a:p>
        </p:txBody>
      </p:sp>
      <p:sp>
        <p:nvSpPr>
          <p:cNvPr id="4" name="Shape 2"/>
          <p:cNvSpPr/>
          <p:nvPr/>
        </p:nvSpPr>
        <p:spPr>
          <a:xfrm>
            <a:off x="914400" y="1691640"/>
            <a:ext cx="658368" cy="658368"/>
          </a:xfrm>
          <a:prstGeom prst="ellipse">
            <a:avLst/>
          </a:prstGeom>
          <a:solidFill>
            <a:schemeClr val="accent3"/>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078992" y="1856232"/>
            <a:ext cx="329184" cy="329184"/>
          </a:xfrm>
          <a:prstGeom prst="rect">
            <a:avLst/>
          </a:prstGeom>
        </p:spPr>
      </p:pic>
      <p:sp>
        <p:nvSpPr>
          <p:cNvPr id="6" name="Text 3"/>
          <p:cNvSpPr txBox="1"/>
          <p:nvPr/>
        </p:nvSpPr>
        <p:spPr>
          <a:xfrm>
            <a:off x="1737360" y="1810512"/>
            <a:ext cx="3931920" cy="457200"/>
          </a:xfrm>
          <a:prstGeom prst="rect">
            <a:avLst/>
          </a:prstGeom>
          <a:noFill/>
          <a:ln/>
        </p:spPr>
        <p:txBody>
          <a:bodyPr wrap="square" lIns="0" tIns="0" rIns="0" bIns="0" rtlCol="0" anchor="t"/>
          <a:lstStyle/>
          <a:p>
            <a:pPr marL="0" indent="0">
              <a:buNone/>
            </a:pPr>
            <a:r>
              <a:rPr lang="en-US" sz="2100" b="1" dirty="0">
                <a:solidFill>
                  <a:schemeClr val="accent6"/>
                </a:solidFill>
              </a:rPr>
              <a:t>Limitations</a:t>
            </a:r>
            <a:endParaRPr lang="en-US" sz="2100" dirty="0"/>
          </a:p>
        </p:txBody>
      </p:sp>
      <p:sp>
        <p:nvSpPr>
          <p:cNvPr id="7" name="Text 4"/>
          <p:cNvSpPr txBox="1"/>
          <p:nvPr/>
        </p:nvSpPr>
        <p:spPr>
          <a:xfrm>
            <a:off x="914400" y="2606040"/>
            <a:ext cx="4754880" cy="292608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tx1"/>
                </a:solidFill>
              </a:rPr>
              <a:t>No volunteer recordings yet, so RQ3, RQ4 and E5 are open</a:t>
            </a:r>
            <a:endParaRPr lang="en-US" sz="1700" dirty="0"/>
          </a:p>
          <a:p>
            <a:pPr marL="342900" indent="-342900">
              <a:spcAft>
                <a:spcPts val="1200"/>
              </a:spcAft>
              <a:buSzPct val="100000"/>
              <a:buChar char="•"/>
            </a:pPr>
            <a:r>
              <a:rPr lang="en-US" sz="1700" dirty="0">
                <a:solidFill>
                  <a:schemeClr val="tx1"/>
                </a:solidFill>
              </a:rPr>
              <a:t>UBFC is easy: indoor, still, uncompressed video</a:t>
            </a:r>
            <a:endParaRPr lang="en-US" sz="1700" dirty="0"/>
          </a:p>
          <a:p>
            <a:pPr marL="342900" indent="-342900">
              <a:spcAft>
                <a:spcPts val="1200"/>
              </a:spcAft>
              <a:buSzPct val="100000"/>
              <a:buChar char="•"/>
            </a:pPr>
            <a:r>
              <a:rPr lang="en-US" sz="1700" dirty="0">
                <a:solidFill>
                  <a:schemeClr val="tx1"/>
                </a:solidFill>
              </a:rPr>
              <a:t>Deep models are released checkpoints; our fine-tune gave no gain</a:t>
            </a:r>
            <a:endParaRPr lang="en-US" sz="1700" dirty="0"/>
          </a:p>
          <a:p>
            <a:pPr marL="342900" indent="-342900">
              <a:spcAft>
                <a:spcPts val="1200"/>
              </a:spcAft>
              <a:buSzPct val="100000"/>
              <a:buChar char="•"/>
            </a:pPr>
            <a:r>
              <a:rPr lang="en-US" sz="1700" dirty="0">
                <a:solidFill>
                  <a:schemeClr val="tx1"/>
                </a:solidFill>
              </a:rPr>
              <a:t>A live run with a real person is still to be tested</a:t>
            </a:r>
            <a:endParaRPr lang="en-US" sz="1700" dirty="0"/>
          </a:p>
          <a:p>
            <a:pPr marL="342900" indent="-342900">
              <a:spcAft>
                <a:spcPts val="1200"/>
              </a:spcAft>
              <a:buSzPct val="100000"/>
              <a:buChar char="•"/>
            </a:pPr>
            <a:r>
              <a:rPr lang="en-US" sz="1700" dirty="0">
                <a:solidFill>
                  <a:schemeClr val="tx1"/>
                </a:solidFill>
              </a:rPr>
              <a:t>Not validated for any clinical use</a:t>
            </a:r>
            <a:endParaRPr lang="en-US" sz="1700" dirty="0"/>
          </a:p>
        </p:txBody>
      </p:sp>
      <p:sp>
        <p:nvSpPr>
          <p:cNvPr id="8" name="Ethics and privacy card"/>
          <p:cNvSpPr/>
          <p:nvPr/>
        </p:nvSpPr>
        <p:spPr>
          <a:xfrm>
            <a:off x="6190488" y="1371600"/>
            <a:ext cx="5449824" cy="4343400"/>
          </a:xfrm>
          <a:prstGeom prst="roundRect">
            <a:avLst>
              <a:gd name="adj" fmla="val 3789"/>
            </a:avLst>
          </a:prstGeom>
          <a:solidFill>
            <a:schemeClr val="bg2"/>
          </a:solidFill>
          <a:ln/>
        </p:spPr>
        <p:txBody>
          <a:bodyPr/>
          <a:lstStyle/>
          <a:p>
            <a:endParaRPr lang="en-US"/>
          </a:p>
        </p:txBody>
      </p:sp>
      <p:sp>
        <p:nvSpPr>
          <p:cNvPr id="9" name="Shape 6"/>
          <p:cNvSpPr/>
          <p:nvPr/>
        </p:nvSpPr>
        <p:spPr>
          <a:xfrm>
            <a:off x="6556248" y="1691640"/>
            <a:ext cx="658368" cy="658368"/>
          </a:xfrm>
          <a:prstGeom prst="ellipse">
            <a:avLst/>
          </a:prstGeom>
          <a:solidFill>
            <a:schemeClr val="accent3"/>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6720840" y="1856232"/>
            <a:ext cx="329184" cy="329184"/>
          </a:xfrm>
          <a:prstGeom prst="rect">
            <a:avLst/>
          </a:prstGeom>
        </p:spPr>
      </p:pic>
      <p:sp>
        <p:nvSpPr>
          <p:cNvPr id="11" name="Text 7"/>
          <p:cNvSpPr txBox="1"/>
          <p:nvPr/>
        </p:nvSpPr>
        <p:spPr>
          <a:xfrm>
            <a:off x="7379208" y="1810512"/>
            <a:ext cx="3931920" cy="457200"/>
          </a:xfrm>
          <a:prstGeom prst="rect">
            <a:avLst/>
          </a:prstGeom>
          <a:noFill/>
          <a:ln/>
        </p:spPr>
        <p:txBody>
          <a:bodyPr wrap="square" lIns="0" tIns="0" rIns="0" bIns="0" rtlCol="0" anchor="t"/>
          <a:lstStyle/>
          <a:p>
            <a:pPr marL="0" indent="0">
              <a:buNone/>
            </a:pPr>
            <a:r>
              <a:rPr lang="en-US" sz="2100" b="1" dirty="0">
                <a:solidFill>
                  <a:schemeClr val="accent5"/>
                </a:solidFill>
              </a:rPr>
              <a:t>Ethics and privacy</a:t>
            </a:r>
            <a:endParaRPr lang="en-US" sz="2100" dirty="0"/>
          </a:p>
        </p:txBody>
      </p:sp>
      <p:sp>
        <p:nvSpPr>
          <p:cNvPr id="12" name="Text 8"/>
          <p:cNvSpPr txBox="1"/>
          <p:nvPr/>
        </p:nvSpPr>
        <p:spPr>
          <a:xfrm>
            <a:off x="6556248" y="2606040"/>
            <a:ext cx="4754880" cy="292608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tx1"/>
                </a:solidFill>
              </a:rPr>
              <a:t>Written consent before any recording</a:t>
            </a:r>
            <a:endParaRPr lang="en-US" sz="1700" dirty="0"/>
          </a:p>
          <a:p>
            <a:pPr marL="342900" indent="-342900">
              <a:spcAft>
                <a:spcPts val="1200"/>
              </a:spcAft>
              <a:buSzPct val="100000"/>
              <a:buChar char="•"/>
            </a:pPr>
            <a:r>
              <a:rPr lang="en-US" sz="1700" dirty="0">
                <a:solidFill>
                  <a:schemeClr val="tx1"/>
                </a:solidFill>
              </a:rPr>
              <a:t>Follows India’s DPDP Act 2023</a:t>
            </a:r>
            <a:endParaRPr lang="en-US" sz="1700" dirty="0"/>
          </a:p>
          <a:p>
            <a:pPr marL="342900" indent="-342900">
              <a:spcAft>
                <a:spcPts val="1200"/>
              </a:spcAft>
              <a:buSzPct val="100000"/>
              <a:buChar char="•"/>
            </a:pPr>
            <a:r>
              <a:rPr lang="en-US" sz="1700" dirty="0">
                <a:solidFill>
                  <a:schemeClr val="tx1"/>
                </a:solidFill>
              </a:rPr>
              <a:t>IDs instead of names; videos stay private, never on GitHub</a:t>
            </a:r>
            <a:endParaRPr lang="en-US" sz="1700" dirty="0"/>
          </a:p>
          <a:p>
            <a:pPr marL="342900" indent="-342900">
              <a:spcAft>
                <a:spcPts val="1200"/>
              </a:spcAft>
              <a:buSzPct val="100000"/>
              <a:buChar char="•"/>
            </a:pPr>
            <a:r>
              <a:rPr lang="en-US" sz="1700" dirty="0">
                <a:solidFill>
                  <a:schemeClr val="tx1"/>
                </a:solidFill>
              </a:rPr>
              <a:t>Faces shown only with permission (blurred in this deck)</a:t>
            </a:r>
            <a:endParaRPr lang="en-US" sz="1700" dirty="0"/>
          </a:p>
          <a:p>
            <a:pPr marL="342900" indent="-342900">
              <a:spcAft>
                <a:spcPts val="1200"/>
              </a:spcAft>
              <a:buSzPct val="100000"/>
              <a:buChar char="•"/>
            </a:pPr>
            <a:r>
              <a:rPr lang="en-US" sz="1700" dirty="0">
                <a:solidFill>
                  <a:schemeClr val="tx1"/>
                </a:solidFill>
              </a:rPr>
              <a:t>The app says clearly: not a medical device</a:t>
            </a:r>
            <a:endParaRPr lang="en-US" sz="1700" dirty="0"/>
          </a:p>
        </p:txBody>
      </p:sp>
      <p:sp>
        <p:nvSpPr>
          <p:cNvPr id="25" name="Slide Number Placeholder 0"/>
          <p:cNvSpPr>
            <a:spLocks noGrp="1"/>
          </p:cNvSpPr>
          <p:nvPr>
            <p:ph type="sldNum" sz="quarter" idx="4294967295"/>
          </p:nvPr>
        </p:nvSpPr>
        <p:spPr>
          <a:xfrm>
            <a:off x="11091672" y="6336792"/>
            <a:ext cx="54864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457200"/>
            <a:ext cx="7315200" cy="731520"/>
          </a:xfrm>
          <a:prstGeom prst="rect">
            <a:avLst/>
          </a:prstGeom>
          <a:noFill/>
          <a:ln/>
        </p:spPr>
        <p:txBody>
          <a:bodyPr wrap="square" lIns="0" tIns="0" rIns="0" bIns="0" rtlCol="0" anchor="t"/>
          <a:lstStyle/>
          <a:p>
            <a:pPr marL="0" indent="0">
              <a:buNone/>
            </a:pPr>
            <a:r>
              <a:rPr lang="en-US" sz="4000" b="1" dirty="0">
                <a:solidFill>
                  <a:schemeClr val="bg1"/>
                </a:solidFill>
                <a:latin typeface="+mj-lt" pitchFamily="34" charset="0"/>
                <a:ea typeface="+mj-lt" pitchFamily="34" charset="-122"/>
                <a:cs typeface="+mj-lt" pitchFamily="34" charset="-120"/>
              </a:rPr>
              <a:t>What we found</a:t>
            </a:r>
            <a:endParaRPr lang="en-US" sz="4000" dirty="0"/>
          </a:p>
        </p:txBody>
      </p:sp>
      <p:pic>
        <p:nvPicPr>
          <p:cNvPr id="3" name="Image 0" descr="preencoded.png"/>
          <p:cNvPicPr>
            <a:picLocks noChangeAspect="1"/>
          </p:cNvPicPr>
          <p:nvPr/>
        </p:nvPicPr>
        <p:blipFill>
          <a:blip r:embed="rId3"/>
          <a:stretch>
            <a:fillRect/>
          </a:stretch>
        </p:blipFill>
        <p:spPr>
          <a:xfrm>
            <a:off x="548640" y="1508760"/>
            <a:ext cx="365760" cy="365760"/>
          </a:xfrm>
          <a:prstGeom prst="rect">
            <a:avLst/>
          </a:prstGeom>
        </p:spPr>
      </p:pic>
      <p:sp>
        <p:nvSpPr>
          <p:cNvPr id="4" name="Text 1"/>
          <p:cNvSpPr txBox="1"/>
          <p:nvPr/>
        </p:nvSpPr>
        <p:spPr>
          <a:xfrm>
            <a:off x="1097280" y="1463040"/>
            <a:ext cx="1463040" cy="457200"/>
          </a:xfrm>
          <a:prstGeom prst="rect">
            <a:avLst/>
          </a:prstGeom>
          <a:noFill/>
          <a:ln/>
        </p:spPr>
        <p:txBody>
          <a:bodyPr wrap="square" lIns="0" tIns="0" rIns="0" bIns="0" rtlCol="0" anchor="t"/>
          <a:lstStyle/>
          <a:p>
            <a:pPr marL="0" indent="0">
              <a:buNone/>
            </a:pPr>
            <a:r>
              <a:rPr lang="en-US" sz="1800" b="1" dirty="0">
                <a:solidFill>
                  <a:schemeClr val="bg1"/>
                </a:solidFill>
              </a:rPr>
              <a:t>RQ1</a:t>
            </a:r>
            <a:endParaRPr lang="en-US" sz="1800" dirty="0"/>
          </a:p>
        </p:txBody>
      </p:sp>
      <p:sp>
        <p:nvSpPr>
          <p:cNvPr id="5" name="Text 2"/>
          <p:cNvSpPr txBox="1"/>
          <p:nvPr/>
        </p:nvSpPr>
        <p:spPr>
          <a:xfrm>
            <a:off x="2606040" y="1481328"/>
            <a:ext cx="4343400" cy="731520"/>
          </a:xfrm>
          <a:prstGeom prst="rect">
            <a:avLst/>
          </a:prstGeom>
          <a:noFill/>
          <a:ln/>
        </p:spPr>
        <p:txBody>
          <a:bodyPr wrap="square" lIns="0" tIns="0" rIns="0" bIns="0" rtlCol="0" anchor="t"/>
          <a:lstStyle/>
          <a:p>
            <a:pPr marL="0" indent="0">
              <a:buNone/>
            </a:pPr>
            <a:r>
              <a:rPr lang="en-US" sz="1600" dirty="0">
                <a:solidFill>
                  <a:schemeClr val="bg2"/>
                </a:solidFill>
              </a:rPr>
              <a:t>TS-CAN 1.80 vs CHROM 2.00 bpm: deep edges out classical, tie per video</a:t>
            </a:r>
            <a:endParaRPr lang="en-US" sz="1600" dirty="0"/>
          </a:p>
        </p:txBody>
      </p:sp>
      <p:pic>
        <p:nvPicPr>
          <p:cNvPr id="6" name="Image 1" descr="preencoded.png"/>
          <p:cNvPicPr>
            <a:picLocks noChangeAspect="1"/>
          </p:cNvPicPr>
          <p:nvPr/>
        </p:nvPicPr>
        <p:blipFill>
          <a:blip r:embed="rId3"/>
          <a:stretch>
            <a:fillRect/>
          </a:stretch>
        </p:blipFill>
        <p:spPr>
          <a:xfrm>
            <a:off x="548640" y="2377440"/>
            <a:ext cx="365760" cy="365760"/>
          </a:xfrm>
          <a:prstGeom prst="rect">
            <a:avLst/>
          </a:prstGeom>
        </p:spPr>
      </p:pic>
      <p:sp>
        <p:nvSpPr>
          <p:cNvPr id="7" name="Text 3"/>
          <p:cNvSpPr txBox="1"/>
          <p:nvPr/>
        </p:nvSpPr>
        <p:spPr>
          <a:xfrm>
            <a:off x="1097280" y="2331720"/>
            <a:ext cx="1463040" cy="457200"/>
          </a:xfrm>
          <a:prstGeom prst="rect">
            <a:avLst/>
          </a:prstGeom>
          <a:noFill/>
          <a:ln/>
        </p:spPr>
        <p:txBody>
          <a:bodyPr wrap="square" lIns="0" tIns="0" rIns="0" bIns="0" rtlCol="0" anchor="t"/>
          <a:lstStyle/>
          <a:p>
            <a:pPr marL="0" indent="0">
              <a:buNone/>
            </a:pPr>
            <a:r>
              <a:rPr lang="en-US" sz="1800" b="1" dirty="0">
                <a:solidFill>
                  <a:schemeClr val="bg1"/>
                </a:solidFill>
              </a:rPr>
              <a:t>RQ2</a:t>
            </a:r>
            <a:endParaRPr lang="en-US" sz="1800" dirty="0"/>
          </a:p>
        </p:txBody>
      </p:sp>
      <p:sp>
        <p:nvSpPr>
          <p:cNvPr id="8" name="Text 4"/>
          <p:cNvSpPr txBox="1"/>
          <p:nvPr/>
        </p:nvSpPr>
        <p:spPr>
          <a:xfrm>
            <a:off x="2606040" y="2350008"/>
            <a:ext cx="4343400" cy="731520"/>
          </a:xfrm>
          <a:prstGeom prst="rect">
            <a:avLst/>
          </a:prstGeom>
          <a:noFill/>
          <a:ln/>
        </p:spPr>
        <p:txBody>
          <a:bodyPr wrap="square" lIns="0" tIns="0" rIns="0" bIns="0" rtlCol="0" anchor="t"/>
          <a:lstStyle/>
          <a:p>
            <a:pPr marL="0" indent="0">
              <a:buNone/>
            </a:pPr>
            <a:r>
              <a:rPr lang="en-US" sz="1600" dirty="0">
                <a:solidFill>
                  <a:schemeClr val="bg2"/>
                </a:solidFill>
              </a:rPr>
              <a:t>Training on real video transfers (1.80); synthetic does not (12.83)</a:t>
            </a:r>
            <a:endParaRPr lang="en-US" sz="1600" dirty="0"/>
          </a:p>
        </p:txBody>
      </p:sp>
      <p:pic>
        <p:nvPicPr>
          <p:cNvPr id="9" name="Image 2" descr="preencoded.png"/>
          <p:cNvPicPr>
            <a:picLocks noChangeAspect="1"/>
          </p:cNvPicPr>
          <p:nvPr/>
        </p:nvPicPr>
        <p:blipFill>
          <a:blip r:embed="rId4"/>
          <a:stretch>
            <a:fillRect/>
          </a:stretch>
        </p:blipFill>
        <p:spPr>
          <a:xfrm>
            <a:off x="548640" y="3246120"/>
            <a:ext cx="365760" cy="365760"/>
          </a:xfrm>
          <a:prstGeom prst="rect">
            <a:avLst/>
          </a:prstGeom>
        </p:spPr>
      </p:pic>
      <p:sp>
        <p:nvSpPr>
          <p:cNvPr id="10" name="Text 5"/>
          <p:cNvSpPr txBox="1"/>
          <p:nvPr/>
        </p:nvSpPr>
        <p:spPr>
          <a:xfrm>
            <a:off x="1097280" y="3200400"/>
            <a:ext cx="1463040" cy="457200"/>
          </a:xfrm>
          <a:prstGeom prst="rect">
            <a:avLst/>
          </a:prstGeom>
          <a:noFill/>
          <a:ln/>
        </p:spPr>
        <p:txBody>
          <a:bodyPr wrap="square" lIns="0" tIns="0" rIns="0" bIns="0" rtlCol="0" anchor="t"/>
          <a:lstStyle/>
          <a:p>
            <a:pPr marL="0" indent="0">
              <a:buNone/>
            </a:pPr>
            <a:r>
              <a:rPr lang="en-US" sz="1800" b="1" dirty="0">
                <a:solidFill>
                  <a:schemeClr val="bg1"/>
                </a:solidFill>
              </a:rPr>
              <a:t>RQ3, RQ4</a:t>
            </a:r>
            <a:endParaRPr lang="en-US" sz="1800" dirty="0"/>
          </a:p>
        </p:txBody>
      </p:sp>
      <p:sp>
        <p:nvSpPr>
          <p:cNvPr id="11" name="Text 6"/>
          <p:cNvSpPr txBox="1"/>
          <p:nvPr/>
        </p:nvSpPr>
        <p:spPr>
          <a:xfrm>
            <a:off x="2606040" y="3218688"/>
            <a:ext cx="4343400" cy="731520"/>
          </a:xfrm>
          <a:prstGeom prst="rect">
            <a:avLst/>
          </a:prstGeom>
          <a:noFill/>
          <a:ln/>
        </p:spPr>
        <p:txBody>
          <a:bodyPr wrap="square" lIns="0" tIns="0" rIns="0" bIns="0" rtlCol="0" anchor="t"/>
          <a:lstStyle/>
          <a:p>
            <a:pPr marL="0" indent="0">
              <a:buNone/>
            </a:pPr>
            <a:r>
              <a:rPr lang="en-US" sz="1600" dirty="0">
                <a:solidFill>
                  <a:schemeClr val="bg2"/>
                </a:solidFill>
              </a:rPr>
              <a:t>Need consenting volunteers across skin tones</a:t>
            </a:r>
            <a:endParaRPr lang="en-US" sz="1600" dirty="0"/>
          </a:p>
        </p:txBody>
      </p:sp>
      <p:pic>
        <p:nvPicPr>
          <p:cNvPr id="12" name="Image 3" descr="preencoded.png"/>
          <p:cNvPicPr>
            <a:picLocks noChangeAspect="1"/>
          </p:cNvPicPr>
          <p:nvPr/>
        </p:nvPicPr>
        <p:blipFill>
          <a:blip r:embed="rId3"/>
          <a:stretch>
            <a:fillRect/>
          </a:stretch>
        </p:blipFill>
        <p:spPr>
          <a:xfrm>
            <a:off x="548640" y="4114800"/>
            <a:ext cx="365760" cy="365760"/>
          </a:xfrm>
          <a:prstGeom prst="rect">
            <a:avLst/>
          </a:prstGeom>
        </p:spPr>
      </p:pic>
      <p:sp>
        <p:nvSpPr>
          <p:cNvPr id="13" name="Text 7"/>
          <p:cNvSpPr txBox="1"/>
          <p:nvPr/>
        </p:nvSpPr>
        <p:spPr>
          <a:xfrm>
            <a:off x="1097280" y="4069080"/>
            <a:ext cx="1463040" cy="457200"/>
          </a:xfrm>
          <a:prstGeom prst="rect">
            <a:avLst/>
          </a:prstGeom>
          <a:noFill/>
          <a:ln/>
        </p:spPr>
        <p:txBody>
          <a:bodyPr wrap="square" lIns="0" tIns="0" rIns="0" bIns="0" rtlCol="0" anchor="t"/>
          <a:lstStyle/>
          <a:p>
            <a:pPr marL="0" indent="0">
              <a:buNone/>
            </a:pPr>
            <a:r>
              <a:rPr lang="en-US" sz="1800" b="1" dirty="0">
                <a:solidFill>
                  <a:schemeClr val="bg1"/>
                </a:solidFill>
              </a:rPr>
              <a:t>App</a:t>
            </a:r>
            <a:endParaRPr lang="en-US" sz="1800" dirty="0"/>
          </a:p>
        </p:txBody>
      </p:sp>
      <p:sp>
        <p:nvSpPr>
          <p:cNvPr id="14" name="Text 8"/>
          <p:cNvSpPr txBox="1"/>
          <p:nvPr/>
        </p:nvSpPr>
        <p:spPr>
          <a:xfrm>
            <a:off x="2606040" y="4087368"/>
            <a:ext cx="4343400" cy="731520"/>
          </a:xfrm>
          <a:prstGeom prst="rect">
            <a:avLst/>
          </a:prstGeom>
          <a:noFill/>
          <a:ln/>
        </p:spPr>
        <p:txBody>
          <a:bodyPr wrap="square" lIns="0" tIns="0" rIns="0" bIns="0" rtlCol="0" anchor="t"/>
          <a:lstStyle/>
          <a:p>
            <a:pPr marL="0" indent="0">
              <a:buNone/>
            </a:pPr>
            <a:r>
              <a:rPr lang="en-US" sz="1600" dirty="0">
                <a:solidFill>
                  <a:schemeClr val="bg2"/>
                </a:solidFill>
              </a:rPr>
              <a:t>Live and upload analysis work end to end, offline</a:t>
            </a:r>
            <a:endParaRPr lang="en-US" sz="1600" dirty="0"/>
          </a:p>
        </p:txBody>
      </p:sp>
      <p:sp>
        <p:nvSpPr>
          <p:cNvPr id="15" name="Next steps card"/>
          <p:cNvSpPr/>
          <p:nvPr/>
        </p:nvSpPr>
        <p:spPr>
          <a:xfrm>
            <a:off x="7406640" y="1371600"/>
            <a:ext cx="4233672" cy="2971800"/>
          </a:xfrm>
          <a:prstGeom prst="roundRect">
            <a:avLst>
              <a:gd name="adj" fmla="val 5538"/>
            </a:avLst>
          </a:prstGeom>
          <a:solidFill>
            <a:schemeClr val="bg2"/>
          </a:solidFill>
          <a:ln/>
        </p:spPr>
        <p:txBody>
          <a:bodyPr/>
          <a:lstStyle/>
          <a:p>
            <a:endParaRPr lang="en-US"/>
          </a:p>
        </p:txBody>
      </p:sp>
      <p:sp>
        <p:nvSpPr>
          <p:cNvPr id="16" name="Text 10"/>
          <p:cNvSpPr txBox="1"/>
          <p:nvPr/>
        </p:nvSpPr>
        <p:spPr>
          <a:xfrm>
            <a:off x="7726680" y="1645920"/>
            <a:ext cx="3657600" cy="411480"/>
          </a:xfrm>
          <a:prstGeom prst="rect">
            <a:avLst/>
          </a:prstGeom>
          <a:noFill/>
          <a:ln/>
        </p:spPr>
        <p:txBody>
          <a:bodyPr wrap="square" lIns="0" tIns="0" rIns="0" bIns="0" rtlCol="0" anchor="t"/>
          <a:lstStyle/>
          <a:p>
            <a:pPr marL="0" indent="0">
              <a:buNone/>
            </a:pPr>
            <a:r>
              <a:rPr lang="en-US" sz="2000" b="1" dirty="0">
                <a:solidFill>
                  <a:schemeClr val="tx1"/>
                </a:solidFill>
              </a:rPr>
              <a:t>Next steps</a:t>
            </a:r>
            <a:endParaRPr lang="en-US" sz="2000" dirty="0"/>
          </a:p>
        </p:txBody>
      </p:sp>
      <p:sp>
        <p:nvSpPr>
          <p:cNvPr id="17" name="Text 11"/>
          <p:cNvSpPr txBox="1"/>
          <p:nvPr/>
        </p:nvSpPr>
        <p:spPr>
          <a:xfrm>
            <a:off x="7726680" y="2194560"/>
            <a:ext cx="3657600" cy="26517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Record volunteers across Monk skin-tone bands (E3, E4)</a:t>
            </a:r>
            <a:endParaRPr lang="en-US" sz="1500" dirty="0"/>
          </a:p>
          <a:p>
            <a:pPr marL="342900" indent="-342900">
              <a:spcAft>
                <a:spcPts val="1000"/>
              </a:spcAft>
              <a:buSzPct val="100000"/>
              <a:buChar char="•"/>
            </a:pPr>
            <a:r>
              <a:rPr lang="en-US" sz="1500" dirty="0">
                <a:solidFill>
                  <a:schemeClr val="tx1"/>
                </a:solidFill>
              </a:rPr>
              <a:t>Compare live readings with an oximeter (E5)</a:t>
            </a:r>
            <a:endParaRPr lang="en-US" sz="1500" dirty="0"/>
          </a:p>
          <a:p>
            <a:pPr marL="342900" indent="-342900">
              <a:spcAft>
                <a:spcPts val="1000"/>
              </a:spcAft>
              <a:buSzPct val="100000"/>
              <a:buChar char="•"/>
            </a:pPr>
            <a:r>
              <a:rPr lang="en-US" sz="1500" dirty="0">
                <a:solidFill>
                  <a:schemeClr val="tx1"/>
                </a:solidFill>
              </a:rPr>
              <a:t>Fine-tune TS-CAN on our own recordings, split by person</a:t>
            </a:r>
            <a:endParaRPr lang="en-US" sz="1500" dirty="0"/>
          </a:p>
        </p:txBody>
      </p:sp>
      <p:pic>
        <p:nvPicPr>
          <p:cNvPr id="18" name="Image 4" descr="preencoded.png"/>
          <p:cNvPicPr>
            <a:picLocks noChangeAspect="1"/>
          </p:cNvPicPr>
          <p:nvPr/>
        </p:nvPicPr>
        <p:blipFill>
          <a:blip r:embed="rId5"/>
          <a:stretch>
            <a:fillRect/>
          </a:stretch>
        </p:blipFill>
        <p:spPr>
          <a:xfrm>
            <a:off x="548640" y="5440680"/>
            <a:ext cx="822960" cy="532181"/>
          </a:xfrm>
          <a:prstGeom prst="rect">
            <a:avLst/>
          </a:prstGeom>
        </p:spPr>
      </p:pic>
      <p:sp>
        <p:nvSpPr>
          <p:cNvPr id="19" name="Text 12"/>
          <p:cNvSpPr txBox="1"/>
          <p:nvPr/>
        </p:nvSpPr>
        <p:spPr>
          <a:xfrm>
            <a:off x="1600200" y="5394960"/>
            <a:ext cx="8229600" cy="685800"/>
          </a:xfrm>
          <a:prstGeom prst="rect">
            <a:avLst/>
          </a:prstGeom>
          <a:noFill/>
          <a:ln/>
        </p:spPr>
        <p:txBody>
          <a:bodyPr wrap="square" lIns="0" tIns="0" rIns="0" bIns="0" rtlCol="0" anchor="ctr"/>
          <a:lstStyle/>
          <a:p>
            <a:pPr marL="0" indent="0">
              <a:buNone/>
            </a:pPr>
            <a:r>
              <a:rPr lang="en-US" sz="3200" b="1" dirty="0">
                <a:solidFill>
                  <a:schemeClr val="bg1"/>
                </a:solidFill>
                <a:latin typeface="+mj-lt" pitchFamily="34" charset="0"/>
                <a:ea typeface="+mj-lt" pitchFamily="34" charset="-122"/>
                <a:cs typeface="+mj-lt" pitchFamily="34" charset="-120"/>
              </a:rPr>
              <a:t>Thank you. Questions?</a:t>
            </a:r>
            <a:endParaRPr lang="en-US" sz="3200" dirty="0"/>
          </a:p>
        </p:txBody>
      </p:sp>
    </p:spTree>
  </p:cSld>
  <p:clrMapOvr>
    <a:masterClrMapping/>
  </p:clrMapOvr>
</p:sld>
</file>

<file path=ppt/theme/theme1.xml><?xml version="1.0" encoding="utf-8"?>
<a:theme xmlns:a="http://schemas.openxmlformats.org/drawingml/2006/main" name="PulseCam">
  <a:themeElements>
    <a:clrScheme name="PulseCam">
      <a:dk1>
        <a:srgbClr val="1D3557"/>
      </a:dk1>
      <a:lt1>
        <a:srgbClr val="FFFFFF"/>
      </a:lt1>
      <a:dk2>
        <a:srgbClr val="5C6B7F"/>
      </a:dk2>
      <a:lt2>
        <a:srgbClr val="F5F6F8"/>
      </a:lt2>
      <a:accent1>
        <a:srgbClr val="E63946"/>
      </a:accent1>
      <a:accent2>
        <a:srgbClr val="457B9D"/>
      </a:accent2>
      <a:accent3>
        <a:srgbClr val="A8DADC"/>
      </a:accent3>
      <a:accent4>
        <a:srgbClr val="1D3557"/>
      </a:accent4>
      <a:accent5>
        <a:srgbClr val="1F7A6F"/>
      </a:accent5>
      <a:accent6>
        <a:srgbClr val="B26A00"/>
      </a:accent6>
      <a:hlink>
        <a:srgbClr val="457B9D"/>
      </a:hlink>
      <a:folHlink>
        <a:srgbClr val="1D3557"/>
      </a:folHlink>
    </a:clrScheme>
    <a:fontScheme name="PulseCam">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2537</Words>
  <Application>Microsoft Office PowerPoint</Application>
  <PresentationFormat>Widescreen</PresentationFormat>
  <Paragraphs>236</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Segoe UI</vt:lpstr>
      <vt:lpstr>Segoe UI Semibold</vt:lpstr>
      <vt:lpstr>PulseCam</vt:lpstr>
      <vt:lpstr>PowerPoint Presentation</vt:lpstr>
      <vt:lpstr>Heart rate today needs contact</vt:lpstr>
      <vt:lpstr>How a camera sees your pulse</vt:lpstr>
      <vt:lpstr>Four research questions</vt:lpstr>
      <vt:lpstr>From video to beats per minute</vt:lpstr>
      <vt:lpstr>What we compared, and how we scored it</vt:lpstr>
      <vt:lpstr>RQ1: deep edges out classical</vt:lpstr>
      <vt:lpstr>Most windows are right; a few miss badly</vt:lpstr>
      <vt:lpstr>RQ2: real data transfers, synthetic does not</vt:lpstr>
      <vt:lpstr>PulseCam: the web app</vt:lpstr>
      <vt:lpstr>Go live: a 30-second measurement</vt:lpstr>
      <vt:lpstr>Upload: a real result on UBFC subject 1</vt:lpstr>
      <vt:lpstr>Making it real-time on a laptop CPU</vt:lpstr>
      <vt:lpstr>Limits and responsibilities</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PulseCam: heart rate from a webcam</dc:title>
  <dc:subject>Remote photoplethysmography student project</dc:subject>
  <dc:creator>PptxGenJS</dc:creator>
  <cp:lastModifiedBy>a s</cp:lastModifiedBy>
  <cp:revision>2</cp:revision>
  <dcterms:created xsi:type="dcterms:W3CDTF">2026-10-26T17:12:03Z</dcterms:created>
  <dcterms:modified xsi:type="dcterms:W3CDTF">2026-10-27T04:09:55Z</dcterms:modified>
</cp:coreProperties>
</file>